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70" r:id="rId9"/>
    <p:sldId id="271" r:id="rId10"/>
    <p:sldId id="263" r:id="rId11"/>
    <p:sldId id="264" r:id="rId12"/>
    <p:sldId id="265" r:id="rId13"/>
    <p:sldId id="266" r:id="rId14"/>
    <p:sldId id="267" r:id="rId15"/>
    <p:sldId id="268" r:id="rId16"/>
    <p:sldId id="26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B981"/>
    <a:srgbClr val="EF44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AE4136B-9DD7-4795-9364-8C7A444FA66C}" type="datetimeFigureOut">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770B48-C17D-4C08-BB40-1DAF88EA9360}" type="slidenum">
              <a:rPr lang="en-IN" smtClean="0"/>
              <a:t>‹#›</a:t>
            </a:fld>
            <a:endParaRPr lang="en-IN"/>
          </a:p>
        </p:txBody>
      </p:sp>
    </p:spTree>
    <p:extLst>
      <p:ext uri="{BB962C8B-B14F-4D97-AF65-F5344CB8AC3E}">
        <p14:creationId xmlns:p14="http://schemas.microsoft.com/office/powerpoint/2010/main" val="3321609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E4136B-9DD7-4795-9364-8C7A444FA66C}" type="datetimeFigureOut">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770B48-C17D-4C08-BB40-1DAF88EA9360}" type="slidenum">
              <a:rPr lang="en-IN" smtClean="0"/>
              <a:t>‹#›</a:t>
            </a:fld>
            <a:endParaRPr lang="en-IN"/>
          </a:p>
        </p:txBody>
      </p:sp>
    </p:spTree>
    <p:extLst>
      <p:ext uri="{BB962C8B-B14F-4D97-AF65-F5344CB8AC3E}">
        <p14:creationId xmlns:p14="http://schemas.microsoft.com/office/powerpoint/2010/main" val="1069756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E4136B-9DD7-4795-9364-8C7A444FA66C}" type="datetimeFigureOut">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770B48-C17D-4C08-BB40-1DAF88EA9360}" type="slidenum">
              <a:rPr lang="en-IN" smtClean="0"/>
              <a:t>‹#›</a:t>
            </a:fld>
            <a:endParaRPr lang="en-IN"/>
          </a:p>
        </p:txBody>
      </p:sp>
    </p:spTree>
    <p:extLst>
      <p:ext uri="{BB962C8B-B14F-4D97-AF65-F5344CB8AC3E}">
        <p14:creationId xmlns:p14="http://schemas.microsoft.com/office/powerpoint/2010/main" val="3439892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AE4136B-9DD7-4795-9364-8C7A444FA66C}" type="datetimeFigureOut">
              <a:rPr lang="en-IN" smtClean="0"/>
              <a:t>02-06-2026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770B48-C17D-4C08-BB40-1DAF88EA9360}" type="slidenum">
              <a:rPr lang="en-IN" smtClean="0"/>
              <a:t>‹#›</a:t>
            </a:fld>
            <a:endParaRPr lang="en-IN"/>
          </a:p>
        </p:txBody>
      </p:sp>
    </p:spTree>
    <p:extLst>
      <p:ext uri="{BB962C8B-B14F-4D97-AF65-F5344CB8AC3E}">
        <p14:creationId xmlns:p14="http://schemas.microsoft.com/office/powerpoint/2010/main" val="3123846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E4136B-9DD7-4795-9364-8C7A444FA66C}" type="datetimeFigureOut">
              <a:rPr lang="en-IN" smtClean="0"/>
              <a:t>02-06-2026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7770B48-C17D-4C08-BB40-1DAF88EA9360}" type="slidenum">
              <a:rPr lang="en-IN" smtClean="0"/>
              <a:t>‹#›</a:t>
            </a:fld>
            <a:endParaRPr lang="en-IN"/>
          </a:p>
        </p:txBody>
      </p:sp>
    </p:spTree>
    <p:extLst>
      <p:ext uri="{BB962C8B-B14F-4D97-AF65-F5344CB8AC3E}">
        <p14:creationId xmlns:p14="http://schemas.microsoft.com/office/powerpoint/2010/main" val="3617864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AE4136B-9DD7-4795-9364-8C7A444FA66C}" type="datetimeFigureOut">
              <a:rPr lang="en-IN" smtClean="0"/>
              <a:t>02-06-2026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7770B48-C17D-4C08-BB40-1DAF88EA9360}" type="slidenum">
              <a:rPr lang="en-IN" smtClean="0"/>
              <a:t>‹#›</a:t>
            </a:fld>
            <a:endParaRPr lang="en-IN"/>
          </a:p>
        </p:txBody>
      </p:sp>
    </p:spTree>
    <p:extLst>
      <p:ext uri="{BB962C8B-B14F-4D97-AF65-F5344CB8AC3E}">
        <p14:creationId xmlns:p14="http://schemas.microsoft.com/office/powerpoint/2010/main" val="1570846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E4136B-9DD7-4795-9364-8C7A444FA66C}" type="datetimeFigureOut">
              <a:rPr lang="en-IN" smtClean="0"/>
              <a:t>02-06-2026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7770B48-C17D-4C08-BB40-1DAF88EA9360}" type="slidenum">
              <a:rPr lang="en-IN" smtClean="0"/>
              <a:t>‹#›</a:t>
            </a:fld>
            <a:endParaRPr lang="en-IN"/>
          </a:p>
        </p:txBody>
      </p:sp>
    </p:spTree>
    <p:extLst>
      <p:ext uri="{BB962C8B-B14F-4D97-AF65-F5344CB8AC3E}">
        <p14:creationId xmlns:p14="http://schemas.microsoft.com/office/powerpoint/2010/main" val="2519781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AE4136B-9DD7-4795-9364-8C7A444FA66C}" type="datetimeFigureOut">
              <a:rPr lang="en-IN" smtClean="0"/>
              <a:t>02-06-2026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770B48-C17D-4C08-BB40-1DAF88EA9360}" type="slidenum">
              <a:rPr lang="en-IN" smtClean="0"/>
              <a:t>‹#›</a:t>
            </a:fld>
            <a:endParaRPr lang="en-IN"/>
          </a:p>
        </p:txBody>
      </p:sp>
    </p:spTree>
    <p:extLst>
      <p:ext uri="{BB962C8B-B14F-4D97-AF65-F5344CB8AC3E}">
        <p14:creationId xmlns:p14="http://schemas.microsoft.com/office/powerpoint/2010/main" val="3219797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AE4136B-9DD7-4795-9364-8C7A444FA66C}" type="datetimeFigureOut">
              <a:rPr lang="en-IN" smtClean="0"/>
              <a:t>02-06-2026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7770B48-C17D-4C08-BB40-1DAF88EA9360}" type="slidenum">
              <a:rPr lang="en-IN" smtClean="0"/>
              <a:t>‹#›</a:t>
            </a:fld>
            <a:endParaRPr lang="en-IN"/>
          </a:p>
        </p:txBody>
      </p:sp>
    </p:spTree>
    <p:extLst>
      <p:ext uri="{BB962C8B-B14F-4D97-AF65-F5344CB8AC3E}">
        <p14:creationId xmlns:p14="http://schemas.microsoft.com/office/powerpoint/2010/main" val="4069190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E4136B-9DD7-4795-9364-8C7A444FA66C}" type="datetimeFigureOut">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770B48-C17D-4C08-BB40-1DAF88EA9360}" type="slidenum">
              <a:rPr lang="en-IN" smtClean="0"/>
              <a:t>‹#›</a:t>
            </a:fld>
            <a:endParaRPr lang="en-IN"/>
          </a:p>
        </p:txBody>
      </p:sp>
    </p:spTree>
    <p:extLst>
      <p:ext uri="{BB962C8B-B14F-4D97-AF65-F5344CB8AC3E}">
        <p14:creationId xmlns:p14="http://schemas.microsoft.com/office/powerpoint/2010/main" val="1914712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E4136B-9DD7-4795-9364-8C7A444FA66C}" type="datetimeFigureOut">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7770B48-C17D-4C08-BB40-1DAF88EA9360}" type="slidenum">
              <a:rPr lang="en-IN" smtClean="0"/>
              <a:t>‹#›</a:t>
            </a:fld>
            <a:endParaRPr lang="en-IN"/>
          </a:p>
        </p:txBody>
      </p:sp>
    </p:spTree>
    <p:extLst>
      <p:ext uri="{BB962C8B-B14F-4D97-AF65-F5344CB8AC3E}">
        <p14:creationId xmlns:p14="http://schemas.microsoft.com/office/powerpoint/2010/main" val="169265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2AE4136B-9DD7-4795-9364-8C7A444FA66C}" type="datetimeFigureOut">
              <a:rPr lang="en-IN" smtClean="0"/>
              <a:t>02-06-2026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97770B48-C17D-4C08-BB40-1DAF88EA9360}" type="slidenum">
              <a:rPr lang="en-IN" smtClean="0"/>
              <a:t>‹#›</a:t>
            </a:fld>
            <a:endParaRPr lang="en-IN"/>
          </a:p>
        </p:txBody>
      </p:sp>
    </p:spTree>
    <p:extLst>
      <p:ext uri="{BB962C8B-B14F-4D97-AF65-F5344CB8AC3E}">
        <p14:creationId xmlns:p14="http://schemas.microsoft.com/office/powerpoint/2010/main" val="2064628968"/>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9BC3E8-CFEF-7D8C-EDBB-2339D2D15B2A}"/>
              </a:ext>
            </a:extLst>
          </p:cNvPr>
          <p:cNvSpPr txBox="1"/>
          <p:nvPr/>
        </p:nvSpPr>
        <p:spPr>
          <a:xfrm>
            <a:off x="2090174" y="635000"/>
            <a:ext cx="5080000" cy="461665"/>
          </a:xfrm>
          <a:prstGeom prst="rect">
            <a:avLst/>
          </a:prstGeom>
          <a:noFill/>
        </p:spPr>
        <p:txBody>
          <a:bodyPr vert="horz" rtlCol="0">
            <a:spAutoFit/>
          </a:bodyPr>
          <a:lstStyle/>
          <a:p>
            <a:r>
              <a:rPr lang="en-IN" sz="2200" dirty="0">
                <a:solidFill>
                  <a:srgbClr val="10B981"/>
                </a:solidFill>
                <a:latin typeface="Segoe MDL2 Assets" panose="050A0102010101010101" pitchFamily="18" charset="0"/>
              </a:rPr>
              <a:t></a:t>
            </a:r>
            <a:r>
              <a:rPr lang="en-IN" dirty="0"/>
              <a:t> </a:t>
            </a:r>
            <a:r>
              <a:rPr lang="en-IN" sz="2400" b="1" dirty="0">
                <a:solidFill>
                  <a:srgbClr val="10B981"/>
                </a:solidFill>
                <a:latin typeface="Poppins" panose="00000500000000000000" pitchFamily="2" charset="0"/>
              </a:rPr>
              <a:t> </a:t>
            </a:r>
            <a:r>
              <a:rPr lang="en-IN" sz="2400" b="1" dirty="0" err="1">
                <a:solidFill>
                  <a:srgbClr val="10B981"/>
                </a:solidFill>
                <a:latin typeface="Poppins" panose="00000500000000000000" pitchFamily="2" charset="0"/>
              </a:rPr>
              <a:t>Farmogra</a:t>
            </a:r>
            <a:r>
              <a:rPr lang="en-IN" sz="2400" b="1" dirty="0" err="1">
                <a:solidFill>
                  <a:srgbClr val="10B981"/>
                </a:solidFill>
                <a:latin typeface="Poppins" panose="00000500000000000000" pitchFamily="2" charset="0"/>
                <a:cs typeface="Poppins" panose="00000500000000000000" pitchFamily="2" charset="0"/>
              </a:rPr>
              <a:t>m</a:t>
            </a:r>
            <a:endParaRPr lang="en-IN" sz="2400" b="1" dirty="0">
              <a:solidFill>
                <a:srgbClr val="10B981"/>
              </a:solidFill>
              <a:latin typeface="Poppins" panose="00000500000000000000" pitchFamily="2" charset="0"/>
              <a:cs typeface="Poppins" panose="00000500000000000000" pitchFamily="2" charset="0"/>
            </a:endParaRPr>
          </a:p>
        </p:txBody>
      </p:sp>
      <p:sp>
        <p:nvSpPr>
          <p:cNvPr id="3" name="TextBox 2">
            <a:extLst>
              <a:ext uri="{FF2B5EF4-FFF2-40B4-BE49-F238E27FC236}">
                <a16:creationId xmlns:a16="http://schemas.microsoft.com/office/drawing/2014/main" id="{74F09BE2-91C5-16D2-9346-096EDD300A13}"/>
              </a:ext>
            </a:extLst>
          </p:cNvPr>
          <p:cNvSpPr txBox="1"/>
          <p:nvPr/>
        </p:nvSpPr>
        <p:spPr>
          <a:xfrm>
            <a:off x="635000" y="1055067"/>
            <a:ext cx="5715000" cy="238527"/>
          </a:xfrm>
          <a:prstGeom prst="rect">
            <a:avLst/>
          </a:prstGeom>
          <a:noFill/>
        </p:spPr>
        <p:txBody>
          <a:bodyPr vert="horz" rtlCol="0">
            <a:spAutoFit/>
          </a:bodyPr>
          <a:lstStyle/>
          <a:p>
            <a:pPr algn="ctr"/>
            <a:r>
              <a:rPr lang="en-IN" sz="950" b="1" dirty="0">
                <a:solidFill>
                  <a:srgbClr val="91AAA0"/>
                </a:solidFill>
                <a:latin typeface="Inter"/>
              </a:rPr>
              <a:t>SMART AGROCONNECT &amp; MANAGEMENT SYSTEM</a:t>
            </a:r>
          </a:p>
        </p:txBody>
      </p:sp>
      <p:sp>
        <p:nvSpPr>
          <p:cNvPr id="4" name="TextBox 3">
            <a:extLst>
              <a:ext uri="{FF2B5EF4-FFF2-40B4-BE49-F238E27FC236}">
                <a16:creationId xmlns:a16="http://schemas.microsoft.com/office/drawing/2014/main" id="{9A778339-B206-03F9-7527-1A0A34CD8114}"/>
              </a:ext>
            </a:extLst>
          </p:cNvPr>
          <p:cNvSpPr txBox="1"/>
          <p:nvPr/>
        </p:nvSpPr>
        <p:spPr>
          <a:xfrm>
            <a:off x="635000" y="1445737"/>
            <a:ext cx="5715000" cy="1897955"/>
          </a:xfrm>
          <a:prstGeom prst="rect">
            <a:avLst/>
          </a:prstGeom>
          <a:noFill/>
        </p:spPr>
        <p:txBody>
          <a:bodyPr vert="horz" rtlCol="0">
            <a:spAutoFit/>
          </a:bodyPr>
          <a:lstStyle/>
          <a:p>
            <a:pPr algn="ctr">
              <a:spcAft>
                <a:spcPts val="400"/>
              </a:spcAft>
            </a:pPr>
            <a:r>
              <a:rPr lang="en-IN" sz="3800" b="1" dirty="0">
                <a:solidFill>
                  <a:srgbClr val="FFFFFF"/>
                </a:solidFill>
                <a:latin typeface="Poppins" panose="00000500000000000000" pitchFamily="2" charset="0"/>
              </a:rPr>
              <a:t>The Digital Agriculture
Ecosystem.</a:t>
            </a:r>
          </a:p>
        </p:txBody>
      </p:sp>
      <p:sp>
        <p:nvSpPr>
          <p:cNvPr id="5" name="Rectangle: Rounded Corners 4">
            <a:extLst>
              <a:ext uri="{FF2B5EF4-FFF2-40B4-BE49-F238E27FC236}">
                <a16:creationId xmlns:a16="http://schemas.microsoft.com/office/drawing/2014/main" id="{7B56912A-081A-1E12-5397-005218BD66D1}"/>
              </a:ext>
            </a:extLst>
          </p:cNvPr>
          <p:cNvSpPr/>
          <p:nvPr/>
        </p:nvSpPr>
        <p:spPr>
          <a:xfrm>
            <a:off x="635000" y="3556000"/>
            <a:ext cx="5588000" cy="2667000"/>
          </a:xfrm>
          <a:prstGeom prst="roundRect">
            <a:avLst>
              <a:gd name="adj" fmla="val 3000"/>
            </a:avLst>
          </a:prstGeom>
          <a:solidFill>
            <a:srgbClr val="0C2820"/>
          </a:solidFill>
          <a:ln w="12700">
            <a:solidFill>
              <a:srgbClr val="145040"/>
            </a:solidFill>
          </a:ln>
        </p:spPr>
        <p:style>
          <a:lnRef idx="2">
            <a:schemeClr val="accent1">
              <a:shade val="15000"/>
            </a:schemeClr>
          </a:lnRef>
          <a:fillRef idx="1">
            <a:schemeClr val="accent1"/>
          </a:fillRef>
          <a:effectRef idx="0">
            <a:schemeClr val="accent1"/>
          </a:effectRef>
          <a:fontRef idx="minor">
            <a:schemeClr val="lt1"/>
          </a:fontRef>
        </p:style>
        <p:txBody>
          <a:bodyPr lIns="254000" tIns="254000" rIns="254000" bIns="254000" rtlCol="0" anchor="ctr"/>
          <a:lstStyle/>
          <a:p>
            <a:pPr>
              <a:spcAft>
                <a:spcPts val="600"/>
              </a:spcAft>
            </a:pPr>
            <a:r>
              <a:rPr lang="en-IN" sz="1600" b="1" dirty="0">
                <a:solidFill>
                  <a:schemeClr val="tx1"/>
                </a:solidFill>
                <a:latin typeface="Inter"/>
              </a:rPr>
              <a:t>Presenter: </a:t>
            </a:r>
            <a:r>
              <a:rPr lang="en-IN" sz="1600" b="1" dirty="0">
                <a:solidFill>
                  <a:srgbClr val="FFFFFF"/>
                </a:solidFill>
                <a:latin typeface="Inter"/>
              </a:rPr>
              <a:t>Prajwal Gouda
Register No: U02LT23S0007
Department: Bachelor of Computer Applications
College: Himalaya BCA College
Project Guide: </a:t>
            </a:r>
            <a:r>
              <a:rPr lang="en-IN" sz="1600" b="1" dirty="0" err="1">
                <a:solidFill>
                  <a:srgbClr val="FFFFFF"/>
                </a:solidFill>
                <a:latin typeface="Inter"/>
              </a:rPr>
              <a:t>Sameeksha</a:t>
            </a:r>
            <a:r>
              <a:rPr lang="en-IN" sz="1600" b="1" dirty="0">
                <a:solidFill>
                  <a:srgbClr val="FFFFFF"/>
                </a:solidFill>
                <a:latin typeface="Inter"/>
              </a:rPr>
              <a:t> </a:t>
            </a:r>
            <a:r>
              <a:rPr lang="en-IN" sz="1600" b="1" dirty="0" err="1">
                <a:solidFill>
                  <a:srgbClr val="FFFFFF"/>
                </a:solidFill>
                <a:latin typeface="Inter"/>
              </a:rPr>
              <a:t>Chopdekar</a:t>
            </a:r>
            <a:r>
              <a:rPr lang="en-IN" sz="1600" b="1" dirty="0">
                <a:solidFill>
                  <a:srgbClr val="FFFFFF"/>
                </a:solidFill>
                <a:latin typeface="Inter"/>
              </a:rPr>
              <a:t>
Academic Year: 2025 - 2026</a:t>
            </a:r>
          </a:p>
        </p:txBody>
      </p:sp>
      <p:sp>
        <p:nvSpPr>
          <p:cNvPr id="6" name="Rectangle: Rounded Corners 5">
            <a:extLst>
              <a:ext uri="{FF2B5EF4-FFF2-40B4-BE49-F238E27FC236}">
                <a16:creationId xmlns:a16="http://schemas.microsoft.com/office/drawing/2014/main" id="{C2F01611-FC05-9B38-4429-9A9CF70C2D28}"/>
              </a:ext>
            </a:extLst>
          </p:cNvPr>
          <p:cNvSpPr/>
          <p:nvPr/>
        </p:nvSpPr>
        <p:spPr>
          <a:xfrm>
            <a:off x="6604000" y="508000"/>
            <a:ext cx="4953000" cy="5842000"/>
          </a:xfrm>
          <a:prstGeom prst="roundRect">
            <a:avLst>
              <a:gd name="adj" fmla="val 5000"/>
            </a:avLst>
          </a:prstGeom>
          <a:solidFill>
            <a:srgbClr val="0C2820"/>
          </a:solidFill>
          <a:ln w="12700">
            <a:solidFill>
              <a:srgbClr val="145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00">
                <a:solidFill>
                  <a:srgbClr val="D2E6DC"/>
                </a:solidFill>
                <a:latin typeface="Poppins" panose="00000500000000000000" pitchFamily="2" charset="0"/>
              </a:rPr>
              <a:t>[Place 'smart_farm_aerial.png' Here]</a:t>
            </a:r>
            <a:endParaRPr lang="en-IN" sz="1300">
              <a:solidFill>
                <a:srgbClr val="D2E6DC"/>
              </a:solidFill>
              <a:latin typeface="Poppins" panose="00000500000000000000" pitchFamily="2" charset="0"/>
            </a:endParaRPr>
          </a:p>
        </p:txBody>
      </p:sp>
      <p:pic>
        <p:nvPicPr>
          <p:cNvPr id="7" name="Picture 6">
            <a:extLst>
              <a:ext uri="{FF2B5EF4-FFF2-40B4-BE49-F238E27FC236}">
                <a16:creationId xmlns:a16="http://schemas.microsoft.com/office/drawing/2014/main" id="{391957EA-DF89-665E-2E38-A043FF1570AA}"/>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604000" y="508000"/>
            <a:ext cx="4953000" cy="5842000"/>
          </a:xfrm>
          <a:prstGeom prst="roundRect">
            <a:avLst>
              <a:gd name="adj" fmla="val 5000"/>
            </a:avLst>
          </a:prstGeom>
          <a:effectLst>
            <a:outerShdw blurRad="50800" dist="38100" dir="2700000" algn="tl">
              <a:prstClr val="black">
                <a:alpha val="40000"/>
              </a:prstClr>
            </a:outerShdw>
          </a:effectLst>
        </p:spPr>
      </p:pic>
    </p:spTree>
    <p:extLst>
      <p:ext uri="{BB962C8B-B14F-4D97-AF65-F5344CB8AC3E}">
        <p14:creationId xmlns:p14="http://schemas.microsoft.com/office/powerpoint/2010/main" val="2957845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F20B96-8EAD-0A78-5DCF-C2170BDA9A7D}"/>
              </a:ext>
            </a:extLst>
          </p:cNvPr>
          <p:cNvSpPr txBox="1"/>
          <p:nvPr/>
        </p:nvSpPr>
        <p:spPr>
          <a:xfrm>
            <a:off x="635000" y="317500"/>
            <a:ext cx="10922000" cy="369332"/>
          </a:xfrm>
          <a:prstGeom prst="rect">
            <a:avLst/>
          </a:prstGeom>
          <a:noFill/>
        </p:spPr>
        <p:txBody>
          <a:bodyPr vert="horz" lIns="0" tIns="0" rIns="0" bIns="0" rtlCol="0">
            <a:spAutoFit/>
          </a:bodyPr>
          <a:lstStyle/>
          <a:p>
            <a:r>
              <a:rPr lang="en-IN" sz="2200" dirty="0">
                <a:solidFill>
                  <a:srgbClr val="10B981"/>
                </a:solidFill>
                <a:latin typeface="Segoe MDL2 Assets" panose="050A0102010101010101" pitchFamily="18" charset="0"/>
              </a:rPr>
              <a:t></a:t>
            </a:r>
            <a:r>
              <a:rPr lang="en-IN" dirty="0"/>
              <a:t> </a:t>
            </a:r>
            <a:r>
              <a:rPr lang="en-IN" sz="2400" b="1" dirty="0">
                <a:solidFill>
                  <a:srgbClr val="FFFFFF"/>
                </a:solidFill>
                <a:latin typeface="Poppins" panose="00000500000000000000" pitchFamily="2" charset="0"/>
              </a:rPr>
              <a:t> Introductio</a:t>
            </a:r>
            <a:r>
              <a:rPr lang="en-IN" sz="2400" b="1" dirty="0">
                <a:latin typeface="Poppins" panose="00000500000000000000" pitchFamily="2" charset="0"/>
                <a:cs typeface="Poppins" panose="00000500000000000000" pitchFamily="2" charset="0"/>
              </a:rPr>
              <a:t>n</a:t>
            </a:r>
          </a:p>
        </p:txBody>
      </p:sp>
      <p:sp>
        <p:nvSpPr>
          <p:cNvPr id="3" name="Rectangle 2">
            <a:extLst>
              <a:ext uri="{FF2B5EF4-FFF2-40B4-BE49-F238E27FC236}">
                <a16:creationId xmlns:a16="http://schemas.microsoft.com/office/drawing/2014/main" id="{08728B5E-F868-3B53-5878-1EBD3937B3CF}"/>
              </a:ext>
            </a:extLst>
          </p:cNvPr>
          <p:cNvSpPr/>
          <p:nvPr/>
        </p:nvSpPr>
        <p:spPr>
          <a:xfrm>
            <a:off x="635000" y="889000"/>
            <a:ext cx="1016000" cy="25400"/>
          </a:xfrm>
          <a:prstGeom prst="rect">
            <a:avLst/>
          </a:prstGeom>
          <a:solidFill>
            <a:srgbClr val="10B98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AC838A39-06DF-D53C-2340-FD8D10CEF431}"/>
              </a:ext>
            </a:extLst>
          </p:cNvPr>
          <p:cNvSpPr txBox="1"/>
          <p:nvPr/>
        </p:nvSpPr>
        <p:spPr>
          <a:xfrm>
            <a:off x="762000" y="1460500"/>
            <a:ext cx="5080000" cy="3231654"/>
          </a:xfrm>
          <a:prstGeom prst="rect">
            <a:avLst/>
          </a:prstGeom>
          <a:noFill/>
        </p:spPr>
        <p:txBody>
          <a:bodyPr vert="horz" wrap="square" lIns="0" tIns="0" rIns="0" bIns="0" rtlCol="0" anchor="t">
            <a:spAutoFit/>
          </a:bodyPr>
          <a:lstStyle/>
          <a:p>
            <a:pPr>
              <a:spcAft>
                <a:spcPts val="1200"/>
              </a:spcAft>
            </a:pPr>
            <a:r>
              <a:rPr lang="en-US" sz="2000" b="1" dirty="0">
                <a:solidFill>
                  <a:srgbClr val="10B981"/>
                </a:solidFill>
                <a:latin typeface="Inter"/>
              </a:rPr>
              <a:t>✔</a:t>
            </a:r>
            <a:r>
              <a:rPr lang="en-US" sz="2000" dirty="0">
                <a:solidFill>
                  <a:srgbClr val="FFFFFF"/>
                </a:solidFill>
                <a:latin typeface="Inter"/>
              </a:rPr>
              <a:t>  </a:t>
            </a:r>
            <a:r>
              <a:rPr lang="en-US" sz="2000" dirty="0" err="1">
                <a:solidFill>
                  <a:srgbClr val="FFFFFF"/>
                </a:solidFill>
                <a:latin typeface="Inter"/>
              </a:rPr>
              <a:t>Farmogram</a:t>
            </a:r>
            <a:r>
              <a:rPr lang="en-US" sz="2000" dirty="0">
                <a:solidFill>
                  <a:srgbClr val="FFFFFF"/>
                </a:solidFill>
                <a:latin typeface="Inter"/>
              </a:rPr>
              <a:t> is a simple website that helps farmers and buyers connect directly.
</a:t>
            </a:r>
            <a:r>
              <a:rPr lang="en-US" sz="2000" dirty="0">
                <a:solidFill>
                  <a:srgbClr val="10B981"/>
                </a:solidFill>
                <a:latin typeface="Inter"/>
              </a:rPr>
              <a:t>✔</a:t>
            </a:r>
            <a:r>
              <a:rPr lang="en-US" sz="2000" dirty="0">
                <a:solidFill>
                  <a:srgbClr val="FFFFFF"/>
                </a:solidFill>
                <a:latin typeface="Inter"/>
              </a:rPr>
              <a:t>  Farmers work hard to grow crops, but they still face problems like low profits and depending on middlemen.
</a:t>
            </a:r>
            <a:r>
              <a:rPr lang="en-US" sz="2000" dirty="0">
                <a:solidFill>
                  <a:srgbClr val="10B981"/>
                </a:solidFill>
                <a:latin typeface="Inter"/>
              </a:rPr>
              <a:t>✔</a:t>
            </a:r>
            <a:r>
              <a:rPr lang="en-US" sz="2000" dirty="0">
                <a:solidFill>
                  <a:srgbClr val="FFFFFF"/>
                </a:solidFill>
                <a:latin typeface="Inter"/>
              </a:rPr>
              <a:t>  This website lets farmers sell their crops directly to shops and final buyers from home.
</a:t>
            </a:r>
            <a:r>
              <a:rPr lang="en-US" sz="2000" dirty="0">
                <a:solidFill>
                  <a:srgbClr val="10B981"/>
                </a:solidFill>
                <a:latin typeface="Inter"/>
              </a:rPr>
              <a:t>✔</a:t>
            </a:r>
            <a:r>
              <a:rPr lang="en-US" sz="2000" dirty="0">
                <a:solidFill>
                  <a:srgbClr val="FFFFFF"/>
                </a:solidFill>
                <a:latin typeface="Inter"/>
              </a:rPr>
              <a:t>  It removes middle agents, provides advance crop booking, and gives simple farming tools.</a:t>
            </a:r>
            <a:endParaRPr lang="en-IN" sz="2000" dirty="0">
              <a:solidFill>
                <a:srgbClr val="FFFFFF"/>
              </a:solidFill>
              <a:latin typeface="Inter"/>
            </a:endParaRPr>
          </a:p>
        </p:txBody>
      </p:sp>
      <p:sp>
        <p:nvSpPr>
          <p:cNvPr id="5" name="Rectangle: Rounded Corners 4">
            <a:extLst>
              <a:ext uri="{FF2B5EF4-FFF2-40B4-BE49-F238E27FC236}">
                <a16:creationId xmlns:a16="http://schemas.microsoft.com/office/drawing/2014/main" id="{CC5AA501-1C0F-DE90-DD4B-5817B819AF38}"/>
              </a:ext>
            </a:extLst>
          </p:cNvPr>
          <p:cNvSpPr/>
          <p:nvPr/>
        </p:nvSpPr>
        <p:spPr>
          <a:xfrm>
            <a:off x="6223000" y="1397000"/>
            <a:ext cx="5207000" cy="4572000"/>
          </a:xfrm>
          <a:prstGeom prst="roundRect">
            <a:avLst>
              <a:gd name="adj" fmla="val 3000"/>
            </a:avLst>
          </a:prstGeom>
          <a:solidFill>
            <a:srgbClr val="050807"/>
          </a:solidFill>
          <a:ln w="19050" cap="sq">
            <a:solidFill>
              <a:srgbClr val="145040"/>
            </a:solidFill>
            <a:prstDash val="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A5C05D17-5899-D1E4-DDE8-131206F39AA3}"/>
              </a:ext>
            </a:extLst>
          </p:cNvPr>
          <p:cNvSpPr/>
          <p:nvPr/>
        </p:nvSpPr>
        <p:spPr>
          <a:xfrm>
            <a:off x="6413500" y="1587500"/>
            <a:ext cx="4826000" cy="4191000"/>
          </a:xfrm>
          <a:prstGeom prst="roundRect">
            <a:avLst>
              <a:gd name="adj" fmla="val 3000"/>
            </a:avLst>
          </a:prstGeom>
          <a:solidFill>
            <a:srgbClr val="0A0C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254000" rIns="254000" bIns="254000" rtlCol="0" anchor="ctr"/>
          <a:lstStyle/>
          <a:p>
            <a:pPr algn="ctr"/>
            <a:r>
              <a:rPr lang="en-US" sz="1250" dirty="0">
                <a:solidFill>
                  <a:srgbClr val="64786E"/>
                </a:solidFill>
                <a:latin typeface="Inter"/>
              </a:rPr>
              <a:t>[Add image of a farmer using a smartphone here]</a:t>
            </a:r>
            <a:endParaRPr lang="en-IN" sz="1250" dirty="0">
              <a:solidFill>
                <a:srgbClr val="64786E"/>
              </a:solidFill>
              <a:latin typeface="Inter"/>
            </a:endParaRPr>
          </a:p>
        </p:txBody>
      </p:sp>
      <p:pic>
        <p:nvPicPr>
          <p:cNvPr id="11" name="Picture 10">
            <a:extLst>
              <a:ext uri="{FF2B5EF4-FFF2-40B4-BE49-F238E27FC236}">
                <a16:creationId xmlns:a16="http://schemas.microsoft.com/office/drawing/2014/main" id="{07E2928D-2058-FB37-C967-B0370DC72C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3000" y="1460500"/>
            <a:ext cx="5207000" cy="4409358"/>
          </a:xfrm>
          <a:prstGeom prst="rect">
            <a:avLst/>
          </a:prstGeom>
        </p:spPr>
      </p:pic>
    </p:spTree>
    <p:extLst>
      <p:ext uri="{BB962C8B-B14F-4D97-AF65-F5344CB8AC3E}">
        <p14:creationId xmlns:p14="http://schemas.microsoft.com/office/powerpoint/2010/main" val="3647196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9B06C0-F90F-70E4-BFE2-C9F9941AFCE5}"/>
              </a:ext>
            </a:extLst>
          </p:cNvPr>
          <p:cNvSpPr txBox="1"/>
          <p:nvPr/>
        </p:nvSpPr>
        <p:spPr>
          <a:xfrm>
            <a:off x="635000" y="317500"/>
            <a:ext cx="10922000" cy="369332"/>
          </a:xfrm>
          <a:prstGeom prst="rect">
            <a:avLst/>
          </a:prstGeom>
          <a:noFill/>
        </p:spPr>
        <p:txBody>
          <a:bodyPr vert="horz" lIns="0" tIns="0" rIns="0" bIns="0" rtlCol="0">
            <a:spAutoFit/>
          </a:bodyPr>
          <a:lstStyle/>
          <a:p>
            <a:r>
              <a:rPr lang="en-IN" sz="2200" dirty="0">
                <a:solidFill>
                  <a:srgbClr val="10B981"/>
                </a:solidFill>
                <a:latin typeface="Segoe MDL2 Assets" panose="050A0102010101010101" pitchFamily="18" charset="0"/>
              </a:rPr>
              <a:t></a:t>
            </a:r>
            <a:r>
              <a:rPr lang="en-IN" dirty="0"/>
              <a:t> </a:t>
            </a:r>
            <a:r>
              <a:rPr lang="en-IN" sz="2400" b="1" dirty="0">
                <a:solidFill>
                  <a:srgbClr val="FFFFFF"/>
                </a:solidFill>
                <a:latin typeface="Poppins" panose="00000500000000000000" pitchFamily="2" charset="0"/>
              </a:rPr>
              <a:t> Problem Statemen</a:t>
            </a:r>
            <a:r>
              <a:rPr lang="en-IN" sz="2400" b="1" dirty="0">
                <a:latin typeface="Poppins" panose="00000500000000000000" pitchFamily="2" charset="0"/>
                <a:cs typeface="Poppins" panose="00000500000000000000" pitchFamily="2" charset="0"/>
              </a:rPr>
              <a:t>t</a:t>
            </a:r>
          </a:p>
        </p:txBody>
      </p:sp>
      <p:sp>
        <p:nvSpPr>
          <p:cNvPr id="3" name="Rectangle 2">
            <a:extLst>
              <a:ext uri="{FF2B5EF4-FFF2-40B4-BE49-F238E27FC236}">
                <a16:creationId xmlns:a16="http://schemas.microsoft.com/office/drawing/2014/main" id="{410E1257-48FC-50B8-9E67-5792E48DF0C3}"/>
              </a:ext>
            </a:extLst>
          </p:cNvPr>
          <p:cNvSpPr/>
          <p:nvPr/>
        </p:nvSpPr>
        <p:spPr>
          <a:xfrm>
            <a:off x="635000" y="889000"/>
            <a:ext cx="1016000" cy="25400"/>
          </a:xfrm>
          <a:prstGeom prst="rect">
            <a:avLst/>
          </a:prstGeom>
          <a:solidFill>
            <a:srgbClr val="10B98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39D9AA0D-F07D-B0BB-A812-E678A2A114C0}"/>
              </a:ext>
            </a:extLst>
          </p:cNvPr>
          <p:cNvSpPr txBox="1"/>
          <p:nvPr/>
        </p:nvSpPr>
        <p:spPr>
          <a:xfrm>
            <a:off x="762000" y="1460500"/>
            <a:ext cx="5080000" cy="4001095"/>
          </a:xfrm>
          <a:prstGeom prst="rect">
            <a:avLst/>
          </a:prstGeom>
          <a:noFill/>
        </p:spPr>
        <p:txBody>
          <a:bodyPr vert="horz" wrap="square" lIns="0" tIns="0" rIns="0" bIns="0" rtlCol="0" anchor="t">
            <a:spAutoFit/>
          </a:bodyPr>
          <a:lstStyle/>
          <a:p>
            <a:pPr>
              <a:spcAft>
                <a:spcPts val="1200"/>
              </a:spcAft>
            </a:pPr>
            <a:r>
              <a:rPr lang="en-US" sz="2000" b="1" dirty="0">
                <a:solidFill>
                  <a:srgbClr val="10B981"/>
                </a:solidFill>
                <a:latin typeface="Inter"/>
              </a:rPr>
              <a:t>✔</a:t>
            </a:r>
            <a:r>
              <a:rPr lang="en-US" sz="2000" dirty="0">
                <a:solidFill>
                  <a:srgbClr val="FFFFFF"/>
                </a:solidFill>
                <a:latin typeface="Inter"/>
              </a:rPr>
              <a:t>  Farmers sell crops through brokers who take up to 30-40% of their money.
</a:t>
            </a:r>
            <a:r>
              <a:rPr lang="en-US" sz="2000" dirty="0">
                <a:solidFill>
                  <a:srgbClr val="10B981"/>
                </a:solidFill>
                <a:latin typeface="Inter"/>
              </a:rPr>
              <a:t>✔</a:t>
            </a:r>
            <a:r>
              <a:rPr lang="en-US" sz="2000" dirty="0">
                <a:solidFill>
                  <a:srgbClr val="FFFFFF"/>
                </a:solidFill>
                <a:latin typeface="Inter"/>
              </a:rPr>
              <a:t>  Farmers need money to buy seeds and tools before harvesting, but they only get paid after selling.
</a:t>
            </a:r>
            <a:r>
              <a:rPr lang="en-US" sz="2000" dirty="0">
                <a:solidFill>
                  <a:srgbClr val="10B981"/>
                </a:solidFill>
                <a:latin typeface="Inter"/>
              </a:rPr>
              <a:t>✔</a:t>
            </a:r>
            <a:r>
              <a:rPr lang="en-US" sz="2000" dirty="0">
                <a:solidFill>
                  <a:srgbClr val="FFFFFF"/>
                </a:solidFill>
                <a:latin typeface="Inter"/>
              </a:rPr>
              <a:t>  Most farming websites are in English, making them hard for rural farmers to use.
</a:t>
            </a:r>
            <a:r>
              <a:rPr lang="en-US" sz="2000" dirty="0">
                <a:solidFill>
                  <a:srgbClr val="10B981"/>
                </a:solidFill>
                <a:latin typeface="Inter"/>
              </a:rPr>
              <a:t>✔</a:t>
            </a:r>
            <a:r>
              <a:rPr lang="en-US" sz="2000" dirty="0">
                <a:solidFill>
                  <a:srgbClr val="FFFFFF"/>
                </a:solidFill>
                <a:latin typeface="Inter"/>
              </a:rPr>
              <a:t>  Managing farming tasks manually is difficult because farmers depend on memory.
</a:t>
            </a:r>
            <a:r>
              <a:rPr lang="en-US" sz="2000" dirty="0">
                <a:solidFill>
                  <a:srgbClr val="10B981"/>
                </a:solidFill>
                <a:latin typeface="Inter"/>
              </a:rPr>
              <a:t>✔</a:t>
            </a:r>
            <a:r>
              <a:rPr lang="en-US" sz="2000" dirty="0">
                <a:solidFill>
                  <a:srgbClr val="FFFFFF"/>
                </a:solidFill>
                <a:latin typeface="Inter"/>
              </a:rPr>
              <a:t>  There is a need for a simple digital platform to connect farmers and buyers directly.</a:t>
            </a:r>
            <a:endParaRPr lang="en-IN" sz="2000" dirty="0">
              <a:solidFill>
                <a:srgbClr val="FFFFFF"/>
              </a:solidFill>
              <a:latin typeface="Inter"/>
            </a:endParaRPr>
          </a:p>
        </p:txBody>
      </p:sp>
      <p:sp>
        <p:nvSpPr>
          <p:cNvPr id="5" name="Rectangle: Rounded Corners 4">
            <a:extLst>
              <a:ext uri="{FF2B5EF4-FFF2-40B4-BE49-F238E27FC236}">
                <a16:creationId xmlns:a16="http://schemas.microsoft.com/office/drawing/2014/main" id="{ED1139A3-E3B3-3F45-98BD-D97F0D8984E3}"/>
              </a:ext>
            </a:extLst>
          </p:cNvPr>
          <p:cNvSpPr/>
          <p:nvPr/>
        </p:nvSpPr>
        <p:spPr>
          <a:xfrm>
            <a:off x="6223000" y="2286000"/>
            <a:ext cx="5207000" cy="2540000"/>
          </a:xfrm>
          <a:prstGeom prst="roundRect">
            <a:avLst>
              <a:gd name="adj" fmla="val 4000"/>
            </a:avLst>
          </a:prstGeom>
          <a:solidFill>
            <a:srgbClr val="2D0F14"/>
          </a:solidFill>
          <a:ln w="19050">
            <a:solidFill>
              <a:srgbClr val="EF444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EBFD5F53-0C0A-0B21-6F90-C642C4852153}"/>
              </a:ext>
            </a:extLst>
          </p:cNvPr>
          <p:cNvSpPr/>
          <p:nvPr/>
        </p:nvSpPr>
        <p:spPr>
          <a:xfrm>
            <a:off x="6426200" y="2489200"/>
            <a:ext cx="304800" cy="304800"/>
          </a:xfrm>
          <a:prstGeom prst="ellipse">
            <a:avLst/>
          </a:prstGeom>
          <a:solidFill>
            <a:srgbClr val="3C141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000">
                <a:solidFill>
                  <a:srgbClr val="EF4444"/>
                </a:solidFill>
                <a:latin typeface="Segoe MDL2 Assets" panose="050A0102010101010101" pitchFamily="18" charset="0"/>
              </a:rPr>
              <a:t></a:t>
            </a:r>
          </a:p>
        </p:txBody>
      </p:sp>
      <p:sp>
        <p:nvSpPr>
          <p:cNvPr id="7" name="TextBox 6">
            <a:extLst>
              <a:ext uri="{FF2B5EF4-FFF2-40B4-BE49-F238E27FC236}">
                <a16:creationId xmlns:a16="http://schemas.microsoft.com/office/drawing/2014/main" id="{4204C12D-35FD-9DC5-65C6-944B9B72CCF6}"/>
              </a:ext>
            </a:extLst>
          </p:cNvPr>
          <p:cNvSpPr txBox="1"/>
          <p:nvPr/>
        </p:nvSpPr>
        <p:spPr>
          <a:xfrm>
            <a:off x="6832600" y="2463800"/>
            <a:ext cx="4394200" cy="1615827"/>
          </a:xfrm>
          <a:prstGeom prst="rect">
            <a:avLst/>
          </a:prstGeom>
          <a:noFill/>
        </p:spPr>
        <p:txBody>
          <a:bodyPr vert="horz" wrap="square" lIns="0" tIns="0" rIns="0" bIns="0" rtlCol="0">
            <a:spAutoFit/>
          </a:bodyPr>
          <a:lstStyle/>
          <a:p>
            <a:pPr>
              <a:spcAft>
                <a:spcPts val="600"/>
              </a:spcAft>
            </a:pPr>
            <a:r>
              <a:rPr lang="en-US" sz="2000" b="1" dirty="0">
                <a:solidFill>
                  <a:srgbClr val="EF4444"/>
                </a:solidFill>
                <a:latin typeface="Inter"/>
              </a:rPr>
              <a:t>The Main Issue
Because there is no direct connection, farmers lose their hard-earned money and buyers do not know if the crops are fresh.</a:t>
            </a:r>
            <a:endParaRPr lang="en-IN" sz="2000" b="1" dirty="0">
              <a:solidFill>
                <a:srgbClr val="EF4444"/>
              </a:solidFill>
              <a:latin typeface="Inter"/>
            </a:endParaRPr>
          </a:p>
        </p:txBody>
      </p:sp>
    </p:spTree>
    <p:extLst>
      <p:ext uri="{BB962C8B-B14F-4D97-AF65-F5344CB8AC3E}">
        <p14:creationId xmlns:p14="http://schemas.microsoft.com/office/powerpoint/2010/main" val="3373673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5C3962-CB56-8A18-FE50-C880E16F8017}"/>
              </a:ext>
            </a:extLst>
          </p:cNvPr>
          <p:cNvSpPr txBox="1"/>
          <p:nvPr/>
        </p:nvSpPr>
        <p:spPr>
          <a:xfrm>
            <a:off x="635000" y="317500"/>
            <a:ext cx="10922000" cy="369332"/>
          </a:xfrm>
          <a:prstGeom prst="rect">
            <a:avLst/>
          </a:prstGeom>
          <a:noFill/>
        </p:spPr>
        <p:txBody>
          <a:bodyPr vert="horz" lIns="0" tIns="0" rIns="0" bIns="0" rtlCol="0">
            <a:spAutoFit/>
          </a:bodyPr>
          <a:lstStyle/>
          <a:p>
            <a:r>
              <a:rPr lang="en-IN" sz="2200" dirty="0">
                <a:solidFill>
                  <a:srgbClr val="10B981"/>
                </a:solidFill>
                <a:latin typeface="Segoe MDL2 Assets" panose="050A0102010101010101" pitchFamily="18" charset="0"/>
              </a:rPr>
              <a:t></a:t>
            </a:r>
            <a:r>
              <a:rPr lang="en-IN" dirty="0"/>
              <a:t> </a:t>
            </a:r>
            <a:r>
              <a:rPr lang="en-IN" sz="2400" b="1" dirty="0">
                <a:solidFill>
                  <a:srgbClr val="FFFFFF"/>
                </a:solidFill>
                <a:latin typeface="Poppins" panose="00000500000000000000" pitchFamily="2" charset="0"/>
              </a:rPr>
              <a:t> Project Objective</a:t>
            </a:r>
            <a:r>
              <a:rPr lang="en-IN" sz="2400" b="1" dirty="0">
                <a:latin typeface="Poppins" panose="00000500000000000000" pitchFamily="2" charset="0"/>
                <a:cs typeface="Poppins" panose="00000500000000000000" pitchFamily="2" charset="0"/>
              </a:rPr>
              <a:t>s</a:t>
            </a:r>
          </a:p>
        </p:txBody>
      </p:sp>
      <p:sp>
        <p:nvSpPr>
          <p:cNvPr id="3" name="Rectangle 2">
            <a:extLst>
              <a:ext uri="{FF2B5EF4-FFF2-40B4-BE49-F238E27FC236}">
                <a16:creationId xmlns:a16="http://schemas.microsoft.com/office/drawing/2014/main" id="{40A20BCF-906D-1D50-A6AD-C1F27587B93C}"/>
              </a:ext>
            </a:extLst>
          </p:cNvPr>
          <p:cNvSpPr/>
          <p:nvPr/>
        </p:nvSpPr>
        <p:spPr>
          <a:xfrm>
            <a:off x="635000" y="889000"/>
            <a:ext cx="1016000" cy="25400"/>
          </a:xfrm>
          <a:prstGeom prst="rect">
            <a:avLst/>
          </a:prstGeom>
          <a:solidFill>
            <a:srgbClr val="10B98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2C314E0E-4575-73E8-32F8-A897C6ADE223}"/>
              </a:ext>
            </a:extLst>
          </p:cNvPr>
          <p:cNvSpPr txBox="1"/>
          <p:nvPr/>
        </p:nvSpPr>
        <p:spPr>
          <a:xfrm>
            <a:off x="635000" y="1143000"/>
            <a:ext cx="10922000" cy="369332"/>
          </a:xfrm>
          <a:prstGeom prst="rect">
            <a:avLst/>
          </a:prstGeom>
          <a:noFill/>
        </p:spPr>
        <p:txBody>
          <a:bodyPr vert="horz" rtlCol="0">
            <a:spAutoFit/>
          </a:bodyPr>
          <a:lstStyle/>
          <a:p>
            <a:pPr algn="ctr"/>
            <a:r>
              <a:rPr lang="en-US" b="1">
                <a:solidFill>
                  <a:srgbClr val="34D399"/>
                </a:solidFill>
                <a:latin typeface="Poppins" panose="00000500000000000000" pitchFamily="2" charset="0"/>
              </a:rPr>
              <a:t>We want to make crop selling simple, clear, and direct.</a:t>
            </a:r>
            <a:endParaRPr lang="en-IN" b="1">
              <a:solidFill>
                <a:srgbClr val="34D399"/>
              </a:solidFill>
              <a:latin typeface="Poppins" panose="00000500000000000000" pitchFamily="2" charset="0"/>
            </a:endParaRPr>
          </a:p>
        </p:txBody>
      </p:sp>
      <p:sp>
        <p:nvSpPr>
          <p:cNvPr id="5" name="Rectangle: Rounded Corners 4">
            <a:extLst>
              <a:ext uri="{FF2B5EF4-FFF2-40B4-BE49-F238E27FC236}">
                <a16:creationId xmlns:a16="http://schemas.microsoft.com/office/drawing/2014/main" id="{6B91D10A-AD06-E7C7-65E2-78D24EF4FC68}"/>
              </a:ext>
            </a:extLst>
          </p:cNvPr>
          <p:cNvSpPr/>
          <p:nvPr/>
        </p:nvSpPr>
        <p:spPr>
          <a:xfrm>
            <a:off x="762000" y="1778000"/>
            <a:ext cx="3429000" cy="1905000"/>
          </a:xfrm>
          <a:prstGeom prst="roundRect">
            <a:avLst>
              <a:gd name="adj" fmla="val 4000"/>
            </a:avLst>
          </a:prstGeom>
          <a:solidFill>
            <a:srgbClr val="0C2820"/>
          </a:solidFill>
          <a:ln w="12700">
            <a:solidFill>
              <a:srgbClr val="145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8EEB14D2-2F1D-9426-135C-1D8F2FC7219B}"/>
              </a:ext>
            </a:extLst>
          </p:cNvPr>
          <p:cNvSpPr/>
          <p:nvPr/>
        </p:nvSpPr>
        <p:spPr>
          <a:xfrm>
            <a:off x="965200" y="1981200"/>
            <a:ext cx="304800" cy="304800"/>
          </a:xfrm>
          <a:prstGeom prst="ellipse">
            <a:avLst/>
          </a:prstGeom>
          <a:solidFill>
            <a:srgbClr val="0F37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000">
                <a:solidFill>
                  <a:srgbClr val="10B981"/>
                </a:solidFill>
                <a:latin typeface="Segoe MDL2 Assets" panose="050A0102010101010101" pitchFamily="18" charset="0"/>
              </a:rPr>
              <a:t></a:t>
            </a:r>
          </a:p>
        </p:txBody>
      </p:sp>
      <p:sp>
        <p:nvSpPr>
          <p:cNvPr id="7" name="TextBox 6">
            <a:extLst>
              <a:ext uri="{FF2B5EF4-FFF2-40B4-BE49-F238E27FC236}">
                <a16:creationId xmlns:a16="http://schemas.microsoft.com/office/drawing/2014/main" id="{5FDA5911-8EA2-F080-3145-90774A0F6130}"/>
              </a:ext>
            </a:extLst>
          </p:cNvPr>
          <p:cNvSpPr txBox="1"/>
          <p:nvPr/>
        </p:nvSpPr>
        <p:spPr>
          <a:xfrm>
            <a:off x="1371600" y="1955800"/>
            <a:ext cx="2616200" cy="1461939"/>
          </a:xfrm>
          <a:prstGeom prst="rect">
            <a:avLst/>
          </a:prstGeom>
          <a:noFill/>
        </p:spPr>
        <p:txBody>
          <a:bodyPr vert="horz" wrap="square" lIns="0" tIns="0" rIns="0" bIns="0" rtlCol="0" anchor="t">
            <a:spAutoFit/>
          </a:bodyPr>
          <a:lstStyle/>
          <a:p>
            <a:pPr>
              <a:spcAft>
                <a:spcPts val="600"/>
              </a:spcAft>
            </a:pPr>
            <a:r>
              <a:rPr lang="en-US" b="1" dirty="0">
                <a:solidFill>
                  <a:srgbClr val="FFFFFF"/>
                </a:solidFill>
                <a:latin typeface="Inter"/>
              </a:rPr>
              <a:t>Direct Sales
Create a direct marketplace where farmers keep 100% of the sales money without brokers.</a:t>
            </a:r>
            <a:endParaRPr lang="en-IN" b="1" dirty="0">
              <a:solidFill>
                <a:srgbClr val="FFFFFF"/>
              </a:solidFill>
              <a:latin typeface="Inter"/>
            </a:endParaRPr>
          </a:p>
        </p:txBody>
      </p:sp>
      <p:sp>
        <p:nvSpPr>
          <p:cNvPr id="8" name="Rectangle: Rounded Corners 7">
            <a:extLst>
              <a:ext uri="{FF2B5EF4-FFF2-40B4-BE49-F238E27FC236}">
                <a16:creationId xmlns:a16="http://schemas.microsoft.com/office/drawing/2014/main" id="{F9A87D11-B8BA-037B-741B-8392705519F6}"/>
              </a:ext>
            </a:extLst>
          </p:cNvPr>
          <p:cNvSpPr/>
          <p:nvPr/>
        </p:nvSpPr>
        <p:spPr>
          <a:xfrm>
            <a:off x="4381500" y="1778000"/>
            <a:ext cx="3429000" cy="1905000"/>
          </a:xfrm>
          <a:prstGeom prst="roundRect">
            <a:avLst>
              <a:gd name="adj" fmla="val 4000"/>
            </a:avLst>
          </a:prstGeom>
          <a:solidFill>
            <a:srgbClr val="0C2820"/>
          </a:solidFill>
          <a:ln w="12700">
            <a:solidFill>
              <a:srgbClr val="145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AA95D581-6172-70F7-4E6F-36721198DC4D}"/>
              </a:ext>
            </a:extLst>
          </p:cNvPr>
          <p:cNvSpPr/>
          <p:nvPr/>
        </p:nvSpPr>
        <p:spPr>
          <a:xfrm>
            <a:off x="4584700" y="1981200"/>
            <a:ext cx="304800" cy="304800"/>
          </a:xfrm>
          <a:prstGeom prst="ellipse">
            <a:avLst/>
          </a:prstGeom>
          <a:solidFill>
            <a:srgbClr val="0F37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000">
                <a:solidFill>
                  <a:srgbClr val="10B981"/>
                </a:solidFill>
                <a:latin typeface="Segoe MDL2 Assets" panose="050A0102010101010101" pitchFamily="18" charset="0"/>
              </a:rPr>
              <a:t></a:t>
            </a:r>
          </a:p>
        </p:txBody>
      </p:sp>
      <p:sp>
        <p:nvSpPr>
          <p:cNvPr id="10" name="TextBox 9">
            <a:extLst>
              <a:ext uri="{FF2B5EF4-FFF2-40B4-BE49-F238E27FC236}">
                <a16:creationId xmlns:a16="http://schemas.microsoft.com/office/drawing/2014/main" id="{5D825944-E46A-8F2E-4522-88FCC935CF11}"/>
              </a:ext>
            </a:extLst>
          </p:cNvPr>
          <p:cNvSpPr txBox="1"/>
          <p:nvPr/>
        </p:nvSpPr>
        <p:spPr>
          <a:xfrm>
            <a:off x="4991100" y="1955800"/>
            <a:ext cx="2616200" cy="1184940"/>
          </a:xfrm>
          <a:prstGeom prst="rect">
            <a:avLst/>
          </a:prstGeom>
          <a:noFill/>
        </p:spPr>
        <p:txBody>
          <a:bodyPr vert="horz" wrap="square" lIns="0" tIns="0" rIns="0" bIns="0" rtlCol="0" anchor="t">
            <a:spAutoFit/>
          </a:bodyPr>
          <a:lstStyle/>
          <a:p>
            <a:pPr>
              <a:spcAft>
                <a:spcPts val="600"/>
              </a:spcAft>
            </a:pPr>
            <a:r>
              <a:rPr lang="en-US" b="1" dirty="0">
                <a:solidFill>
                  <a:srgbClr val="FFFFFF"/>
                </a:solidFill>
                <a:latin typeface="Inter"/>
              </a:rPr>
              <a:t>Early Money
Let buyers pay 20% early to help farmers buy seeds and tools.</a:t>
            </a:r>
            <a:endParaRPr lang="en-IN" b="1" dirty="0">
              <a:solidFill>
                <a:srgbClr val="FFFFFF"/>
              </a:solidFill>
              <a:latin typeface="Inter"/>
            </a:endParaRPr>
          </a:p>
        </p:txBody>
      </p:sp>
      <p:sp>
        <p:nvSpPr>
          <p:cNvPr id="11" name="Rectangle: Rounded Corners 10">
            <a:extLst>
              <a:ext uri="{FF2B5EF4-FFF2-40B4-BE49-F238E27FC236}">
                <a16:creationId xmlns:a16="http://schemas.microsoft.com/office/drawing/2014/main" id="{09558B23-2DD2-7AE4-21C8-CB2A0D120927}"/>
              </a:ext>
            </a:extLst>
          </p:cNvPr>
          <p:cNvSpPr/>
          <p:nvPr/>
        </p:nvSpPr>
        <p:spPr>
          <a:xfrm>
            <a:off x="8001000" y="1778000"/>
            <a:ext cx="3429000" cy="1905000"/>
          </a:xfrm>
          <a:prstGeom prst="roundRect">
            <a:avLst>
              <a:gd name="adj" fmla="val 4000"/>
            </a:avLst>
          </a:prstGeom>
          <a:solidFill>
            <a:srgbClr val="0C2820"/>
          </a:solidFill>
          <a:ln w="12700">
            <a:solidFill>
              <a:srgbClr val="145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96CE6815-9BD3-5F50-8782-70253F349324}"/>
              </a:ext>
            </a:extLst>
          </p:cNvPr>
          <p:cNvSpPr/>
          <p:nvPr/>
        </p:nvSpPr>
        <p:spPr>
          <a:xfrm>
            <a:off x="8204200" y="1981200"/>
            <a:ext cx="304800" cy="304800"/>
          </a:xfrm>
          <a:prstGeom prst="ellipse">
            <a:avLst/>
          </a:prstGeom>
          <a:solidFill>
            <a:srgbClr val="0F37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000">
                <a:solidFill>
                  <a:srgbClr val="10B981"/>
                </a:solidFill>
                <a:latin typeface="Segoe MDL2 Assets" panose="050A0102010101010101" pitchFamily="18" charset="0"/>
              </a:rPr>
              <a:t></a:t>
            </a:r>
          </a:p>
        </p:txBody>
      </p:sp>
      <p:sp>
        <p:nvSpPr>
          <p:cNvPr id="13" name="TextBox 12">
            <a:extLst>
              <a:ext uri="{FF2B5EF4-FFF2-40B4-BE49-F238E27FC236}">
                <a16:creationId xmlns:a16="http://schemas.microsoft.com/office/drawing/2014/main" id="{A8E223CB-4558-4403-B09F-844659AFE9E6}"/>
              </a:ext>
            </a:extLst>
          </p:cNvPr>
          <p:cNvSpPr txBox="1"/>
          <p:nvPr/>
        </p:nvSpPr>
        <p:spPr>
          <a:xfrm>
            <a:off x="8610600" y="1955800"/>
            <a:ext cx="2616200" cy="1184940"/>
          </a:xfrm>
          <a:prstGeom prst="rect">
            <a:avLst/>
          </a:prstGeom>
          <a:noFill/>
        </p:spPr>
        <p:txBody>
          <a:bodyPr vert="horz" wrap="square" lIns="0" tIns="0" rIns="0" bIns="0" rtlCol="0" anchor="t">
            <a:spAutoFit/>
          </a:bodyPr>
          <a:lstStyle/>
          <a:p>
            <a:pPr>
              <a:spcAft>
                <a:spcPts val="600"/>
              </a:spcAft>
            </a:pPr>
            <a:r>
              <a:rPr lang="en-US" b="1" dirty="0">
                <a:solidFill>
                  <a:srgbClr val="FFFFFF"/>
                </a:solidFill>
                <a:latin typeface="Inter"/>
              </a:rPr>
              <a:t>Direct Chat
Let farmers and buyers chat directly to agree on a fair crop price.</a:t>
            </a:r>
            <a:endParaRPr lang="en-IN" b="1" dirty="0">
              <a:solidFill>
                <a:srgbClr val="FFFFFF"/>
              </a:solidFill>
              <a:latin typeface="Inter"/>
            </a:endParaRPr>
          </a:p>
        </p:txBody>
      </p:sp>
      <p:sp>
        <p:nvSpPr>
          <p:cNvPr id="14" name="Rectangle: Rounded Corners 13">
            <a:extLst>
              <a:ext uri="{FF2B5EF4-FFF2-40B4-BE49-F238E27FC236}">
                <a16:creationId xmlns:a16="http://schemas.microsoft.com/office/drawing/2014/main" id="{34B9656A-8A28-8C4D-FB7D-DFBEACC9D60F}"/>
              </a:ext>
            </a:extLst>
          </p:cNvPr>
          <p:cNvSpPr/>
          <p:nvPr/>
        </p:nvSpPr>
        <p:spPr>
          <a:xfrm>
            <a:off x="762000" y="3937000"/>
            <a:ext cx="5207000" cy="1968500"/>
          </a:xfrm>
          <a:prstGeom prst="roundRect">
            <a:avLst>
              <a:gd name="adj" fmla="val 4000"/>
            </a:avLst>
          </a:prstGeom>
          <a:solidFill>
            <a:srgbClr val="0C2820"/>
          </a:solidFill>
          <a:ln w="12700">
            <a:solidFill>
              <a:srgbClr val="145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1374B834-754B-19B5-7801-DDD78BABBEB2}"/>
              </a:ext>
            </a:extLst>
          </p:cNvPr>
          <p:cNvSpPr/>
          <p:nvPr/>
        </p:nvSpPr>
        <p:spPr>
          <a:xfrm>
            <a:off x="965200" y="4140200"/>
            <a:ext cx="304800" cy="304800"/>
          </a:xfrm>
          <a:prstGeom prst="ellipse">
            <a:avLst/>
          </a:prstGeom>
          <a:solidFill>
            <a:srgbClr val="0F37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000">
                <a:solidFill>
                  <a:srgbClr val="10B981"/>
                </a:solidFill>
                <a:latin typeface="Segoe MDL2 Assets" panose="050A0102010101010101" pitchFamily="18" charset="0"/>
              </a:rPr>
              <a:t></a:t>
            </a:r>
          </a:p>
        </p:txBody>
      </p:sp>
      <p:sp>
        <p:nvSpPr>
          <p:cNvPr id="16" name="TextBox 15">
            <a:extLst>
              <a:ext uri="{FF2B5EF4-FFF2-40B4-BE49-F238E27FC236}">
                <a16:creationId xmlns:a16="http://schemas.microsoft.com/office/drawing/2014/main" id="{BFE599A1-6B0E-3D3A-44C2-1370CCD9FCC0}"/>
              </a:ext>
            </a:extLst>
          </p:cNvPr>
          <p:cNvSpPr txBox="1"/>
          <p:nvPr/>
        </p:nvSpPr>
        <p:spPr>
          <a:xfrm>
            <a:off x="1371600" y="4114800"/>
            <a:ext cx="4394200" cy="907941"/>
          </a:xfrm>
          <a:prstGeom prst="rect">
            <a:avLst/>
          </a:prstGeom>
          <a:noFill/>
        </p:spPr>
        <p:txBody>
          <a:bodyPr vert="horz" wrap="square" lIns="0" tIns="0" rIns="0" bIns="0" rtlCol="0" anchor="t">
            <a:spAutoFit/>
          </a:bodyPr>
          <a:lstStyle/>
          <a:p>
            <a:pPr>
              <a:spcAft>
                <a:spcPts val="600"/>
              </a:spcAft>
            </a:pPr>
            <a:r>
              <a:rPr lang="en-US" b="1" dirty="0">
                <a:solidFill>
                  <a:srgbClr val="FFFFFF"/>
                </a:solidFill>
                <a:latin typeface="Inter"/>
              </a:rPr>
              <a:t>Easy Login
Use local languages and phone numbers so the website is easy to log into.</a:t>
            </a:r>
            <a:endParaRPr lang="en-IN" b="1" dirty="0">
              <a:solidFill>
                <a:srgbClr val="FFFFFF"/>
              </a:solidFill>
              <a:latin typeface="Inter"/>
            </a:endParaRPr>
          </a:p>
        </p:txBody>
      </p:sp>
      <p:sp>
        <p:nvSpPr>
          <p:cNvPr id="17" name="Rectangle: Rounded Corners 16">
            <a:extLst>
              <a:ext uri="{FF2B5EF4-FFF2-40B4-BE49-F238E27FC236}">
                <a16:creationId xmlns:a16="http://schemas.microsoft.com/office/drawing/2014/main" id="{CDCD50DE-5D14-D46E-A0E9-F3116ACFCE67}"/>
              </a:ext>
            </a:extLst>
          </p:cNvPr>
          <p:cNvSpPr/>
          <p:nvPr/>
        </p:nvSpPr>
        <p:spPr>
          <a:xfrm>
            <a:off x="6223000" y="3937000"/>
            <a:ext cx="5207000" cy="1968500"/>
          </a:xfrm>
          <a:prstGeom prst="roundRect">
            <a:avLst>
              <a:gd name="adj" fmla="val 4000"/>
            </a:avLst>
          </a:prstGeom>
          <a:solidFill>
            <a:srgbClr val="0C2820"/>
          </a:solidFill>
          <a:ln w="12700">
            <a:solidFill>
              <a:srgbClr val="145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5D31AD9C-7910-A7A0-B76D-00254C34C37A}"/>
              </a:ext>
            </a:extLst>
          </p:cNvPr>
          <p:cNvSpPr/>
          <p:nvPr/>
        </p:nvSpPr>
        <p:spPr>
          <a:xfrm>
            <a:off x="6426200" y="4140200"/>
            <a:ext cx="304800" cy="304800"/>
          </a:xfrm>
          <a:prstGeom prst="ellipse">
            <a:avLst/>
          </a:prstGeom>
          <a:solidFill>
            <a:srgbClr val="0F37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000">
                <a:solidFill>
                  <a:srgbClr val="10B981"/>
                </a:solidFill>
                <a:latin typeface="Segoe MDL2 Assets" panose="050A0102010101010101" pitchFamily="18" charset="0"/>
              </a:rPr>
              <a:t></a:t>
            </a:r>
          </a:p>
        </p:txBody>
      </p:sp>
      <p:sp>
        <p:nvSpPr>
          <p:cNvPr id="19" name="TextBox 18">
            <a:extLst>
              <a:ext uri="{FF2B5EF4-FFF2-40B4-BE49-F238E27FC236}">
                <a16:creationId xmlns:a16="http://schemas.microsoft.com/office/drawing/2014/main" id="{2EA80610-BB95-4329-56BA-CB9275CAF36C}"/>
              </a:ext>
            </a:extLst>
          </p:cNvPr>
          <p:cNvSpPr txBox="1"/>
          <p:nvPr/>
        </p:nvSpPr>
        <p:spPr>
          <a:xfrm>
            <a:off x="6832600" y="4114800"/>
            <a:ext cx="4394200" cy="907941"/>
          </a:xfrm>
          <a:prstGeom prst="rect">
            <a:avLst/>
          </a:prstGeom>
          <a:noFill/>
        </p:spPr>
        <p:txBody>
          <a:bodyPr vert="horz" wrap="square" lIns="0" tIns="0" rIns="0" bIns="0" rtlCol="0" anchor="t">
            <a:spAutoFit/>
          </a:bodyPr>
          <a:lstStyle/>
          <a:p>
            <a:pPr>
              <a:spcAft>
                <a:spcPts val="600"/>
              </a:spcAft>
            </a:pPr>
            <a:r>
              <a:rPr lang="en-US" b="1" dirty="0">
                <a:solidFill>
                  <a:srgbClr val="FFFFFF"/>
                </a:solidFill>
                <a:latin typeface="Inter"/>
              </a:rPr>
              <a:t>Task Helper
Help farmers check their daily farming calendar easily without using paper.</a:t>
            </a:r>
            <a:endParaRPr lang="en-IN" b="1" dirty="0">
              <a:solidFill>
                <a:srgbClr val="FFFFFF"/>
              </a:solidFill>
              <a:latin typeface="Inter"/>
            </a:endParaRPr>
          </a:p>
        </p:txBody>
      </p:sp>
    </p:spTree>
    <p:extLst>
      <p:ext uri="{BB962C8B-B14F-4D97-AF65-F5344CB8AC3E}">
        <p14:creationId xmlns:p14="http://schemas.microsoft.com/office/powerpoint/2010/main" val="2974167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22748C-287A-C6EE-4D67-12B314B32C04}"/>
              </a:ext>
            </a:extLst>
          </p:cNvPr>
          <p:cNvSpPr txBox="1"/>
          <p:nvPr/>
        </p:nvSpPr>
        <p:spPr>
          <a:xfrm>
            <a:off x="635000" y="317500"/>
            <a:ext cx="10922000" cy="369332"/>
          </a:xfrm>
          <a:prstGeom prst="rect">
            <a:avLst/>
          </a:prstGeom>
          <a:noFill/>
        </p:spPr>
        <p:txBody>
          <a:bodyPr vert="horz" lIns="0" tIns="0" rIns="0" bIns="0" rtlCol="0">
            <a:spAutoFit/>
          </a:bodyPr>
          <a:lstStyle/>
          <a:p>
            <a:r>
              <a:rPr lang="en-IN" sz="2200" dirty="0">
                <a:solidFill>
                  <a:srgbClr val="10B981"/>
                </a:solidFill>
                <a:latin typeface="Segoe MDL2 Assets" panose="050A0102010101010101" pitchFamily="18" charset="0"/>
              </a:rPr>
              <a:t></a:t>
            </a:r>
            <a:r>
              <a:rPr lang="en-IN" dirty="0"/>
              <a:t> </a:t>
            </a:r>
            <a:r>
              <a:rPr lang="en-IN" sz="2400" b="1" dirty="0">
                <a:solidFill>
                  <a:srgbClr val="FFFFFF"/>
                </a:solidFill>
                <a:latin typeface="Poppins" panose="00000500000000000000" pitchFamily="2" charset="0"/>
              </a:rPr>
              <a:t> Existing Syste</a:t>
            </a:r>
            <a:r>
              <a:rPr lang="en-IN" sz="2400" b="1" dirty="0">
                <a:latin typeface="Poppins" panose="00000500000000000000" pitchFamily="2" charset="0"/>
                <a:cs typeface="Poppins" panose="00000500000000000000" pitchFamily="2" charset="0"/>
              </a:rPr>
              <a:t>m</a:t>
            </a:r>
          </a:p>
        </p:txBody>
      </p:sp>
      <p:sp>
        <p:nvSpPr>
          <p:cNvPr id="3" name="Rectangle 2">
            <a:extLst>
              <a:ext uri="{FF2B5EF4-FFF2-40B4-BE49-F238E27FC236}">
                <a16:creationId xmlns:a16="http://schemas.microsoft.com/office/drawing/2014/main" id="{251F6E35-7D4E-18EE-6A22-4937034FEC41}"/>
              </a:ext>
            </a:extLst>
          </p:cNvPr>
          <p:cNvSpPr/>
          <p:nvPr/>
        </p:nvSpPr>
        <p:spPr>
          <a:xfrm>
            <a:off x="635000" y="889000"/>
            <a:ext cx="1016000" cy="25400"/>
          </a:xfrm>
          <a:prstGeom prst="rect">
            <a:avLst/>
          </a:prstGeom>
          <a:solidFill>
            <a:srgbClr val="10B98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141BD36E-BCBA-C218-6939-62C3F53B48E7}"/>
              </a:ext>
            </a:extLst>
          </p:cNvPr>
          <p:cNvSpPr txBox="1"/>
          <p:nvPr/>
        </p:nvSpPr>
        <p:spPr>
          <a:xfrm>
            <a:off x="762000" y="1460500"/>
            <a:ext cx="5080000" cy="3693319"/>
          </a:xfrm>
          <a:prstGeom prst="rect">
            <a:avLst/>
          </a:prstGeom>
          <a:noFill/>
        </p:spPr>
        <p:txBody>
          <a:bodyPr vert="horz" wrap="square" lIns="0" tIns="0" rIns="0" bIns="0" rtlCol="0" anchor="t">
            <a:spAutoFit/>
          </a:bodyPr>
          <a:lstStyle/>
          <a:p>
            <a:pPr>
              <a:spcAft>
                <a:spcPts val="1200"/>
              </a:spcAft>
            </a:pPr>
            <a:r>
              <a:rPr lang="en-US" sz="2000" b="1" dirty="0">
                <a:solidFill>
                  <a:srgbClr val="EF4444"/>
                </a:solidFill>
                <a:latin typeface="Inter"/>
              </a:rPr>
              <a:t>✘</a:t>
            </a:r>
            <a:r>
              <a:rPr lang="en-US" sz="2000" dirty="0">
                <a:solidFill>
                  <a:srgbClr val="FFFFFF"/>
                </a:solidFill>
                <a:latin typeface="Inter"/>
              </a:rPr>
              <a:t>  Farmers currently sell their crops in traditional local mandis.
</a:t>
            </a:r>
            <a:r>
              <a:rPr lang="en-US" sz="2000" dirty="0">
                <a:solidFill>
                  <a:srgbClr val="EF4444"/>
                </a:solidFill>
                <a:latin typeface="Inter"/>
              </a:rPr>
              <a:t>✘</a:t>
            </a:r>
            <a:r>
              <a:rPr lang="en-US" sz="2000" dirty="0">
                <a:solidFill>
                  <a:srgbClr val="FFFFFF"/>
                </a:solidFill>
                <a:latin typeface="Inter"/>
              </a:rPr>
              <a:t>  Crops are sold 3 to 4 times between brokers before reaching the buyer, making them costly.
</a:t>
            </a:r>
            <a:r>
              <a:rPr lang="en-US" sz="2000" dirty="0">
                <a:solidFill>
                  <a:srgbClr val="EF4444"/>
                </a:solidFill>
                <a:latin typeface="Inter"/>
              </a:rPr>
              <a:t>✘</a:t>
            </a:r>
            <a:r>
              <a:rPr lang="en-US" sz="2000" dirty="0">
                <a:solidFill>
                  <a:srgbClr val="FFFFFF"/>
                </a:solidFill>
                <a:latin typeface="Inter"/>
              </a:rPr>
              <a:t>  Farmers get no advance payment while growing the crop, forcing them to take loans.
</a:t>
            </a:r>
            <a:r>
              <a:rPr lang="en-US" sz="2000" dirty="0">
                <a:solidFill>
                  <a:srgbClr val="EF4444"/>
                </a:solidFill>
                <a:latin typeface="Inter"/>
              </a:rPr>
              <a:t>✘</a:t>
            </a:r>
            <a:r>
              <a:rPr lang="en-US" sz="2000" dirty="0">
                <a:solidFill>
                  <a:srgbClr val="FFFFFF"/>
                </a:solidFill>
                <a:latin typeface="Inter"/>
              </a:rPr>
              <a:t>  Farmers do not know the actual market prices in the cities.
</a:t>
            </a:r>
            <a:r>
              <a:rPr lang="en-US" sz="2000" dirty="0">
                <a:solidFill>
                  <a:srgbClr val="EF4444"/>
                </a:solidFill>
                <a:latin typeface="Inter"/>
              </a:rPr>
              <a:t>✘</a:t>
            </a:r>
            <a:r>
              <a:rPr lang="en-US" sz="2000" dirty="0">
                <a:solidFill>
                  <a:srgbClr val="FFFFFF"/>
                </a:solidFill>
                <a:latin typeface="Inter"/>
              </a:rPr>
              <a:t>  Farmers write down tasks and money details on paper, which can easily get lost.</a:t>
            </a:r>
            <a:endParaRPr lang="en-IN" sz="2000" dirty="0">
              <a:solidFill>
                <a:srgbClr val="FFFFFF"/>
              </a:solidFill>
              <a:latin typeface="Inter"/>
            </a:endParaRPr>
          </a:p>
        </p:txBody>
      </p:sp>
      <p:sp>
        <p:nvSpPr>
          <p:cNvPr id="5" name="Rectangle: Rounded Corners 4">
            <a:extLst>
              <a:ext uri="{FF2B5EF4-FFF2-40B4-BE49-F238E27FC236}">
                <a16:creationId xmlns:a16="http://schemas.microsoft.com/office/drawing/2014/main" id="{46F231AC-A1DC-B5C5-65E2-F47B67502DBE}"/>
              </a:ext>
            </a:extLst>
          </p:cNvPr>
          <p:cNvSpPr/>
          <p:nvPr/>
        </p:nvSpPr>
        <p:spPr>
          <a:xfrm>
            <a:off x="6223000" y="1397000"/>
            <a:ext cx="5207000" cy="4572000"/>
          </a:xfrm>
          <a:prstGeom prst="roundRect">
            <a:avLst>
              <a:gd name="adj" fmla="val 3000"/>
            </a:avLst>
          </a:prstGeom>
          <a:solidFill>
            <a:srgbClr val="050807"/>
          </a:solidFill>
          <a:ln w="19050" cap="sq">
            <a:solidFill>
              <a:srgbClr val="145040"/>
            </a:solidFill>
            <a:prstDash val="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21090059-EEB5-4745-50BC-6BBF4CB72200}"/>
              </a:ext>
            </a:extLst>
          </p:cNvPr>
          <p:cNvSpPr/>
          <p:nvPr/>
        </p:nvSpPr>
        <p:spPr>
          <a:xfrm>
            <a:off x="6413500" y="1587500"/>
            <a:ext cx="4826000" cy="4191000"/>
          </a:xfrm>
          <a:prstGeom prst="roundRect">
            <a:avLst>
              <a:gd name="adj" fmla="val 3000"/>
            </a:avLst>
          </a:prstGeom>
          <a:solidFill>
            <a:srgbClr val="0A0C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254000" rIns="254000" bIns="254000" rtlCol="0" anchor="ctr"/>
          <a:lstStyle/>
          <a:p>
            <a:pPr algn="ctr"/>
            <a:r>
              <a:rPr lang="en-US" sz="1250">
                <a:solidFill>
                  <a:srgbClr val="64786E"/>
                </a:solidFill>
                <a:latin typeface="Inter"/>
              </a:rPr>
              <a:t>[Add diagram showing middleman process]</a:t>
            </a:r>
            <a:endParaRPr lang="en-IN" sz="1250">
              <a:solidFill>
                <a:srgbClr val="64786E"/>
              </a:solidFill>
              <a:latin typeface="Inter"/>
            </a:endParaRPr>
          </a:p>
        </p:txBody>
      </p:sp>
      <p:pic>
        <p:nvPicPr>
          <p:cNvPr id="8" name="Picture 7">
            <a:extLst>
              <a:ext uri="{FF2B5EF4-FFF2-40B4-BE49-F238E27FC236}">
                <a16:creationId xmlns:a16="http://schemas.microsoft.com/office/drawing/2014/main" id="{236D283C-3F4F-523B-81D9-B14AE9F832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7822" y="1483237"/>
            <a:ext cx="5137355" cy="4399526"/>
          </a:xfrm>
          <a:prstGeom prst="rect">
            <a:avLst/>
          </a:prstGeom>
        </p:spPr>
      </p:pic>
    </p:spTree>
    <p:extLst>
      <p:ext uri="{BB962C8B-B14F-4D97-AF65-F5344CB8AC3E}">
        <p14:creationId xmlns:p14="http://schemas.microsoft.com/office/powerpoint/2010/main" val="644595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4B8B9E-440C-B968-3A97-C34B61442D04}"/>
              </a:ext>
            </a:extLst>
          </p:cNvPr>
          <p:cNvSpPr txBox="1"/>
          <p:nvPr/>
        </p:nvSpPr>
        <p:spPr>
          <a:xfrm>
            <a:off x="635000" y="317500"/>
            <a:ext cx="10922000" cy="369332"/>
          </a:xfrm>
          <a:prstGeom prst="rect">
            <a:avLst/>
          </a:prstGeom>
          <a:noFill/>
        </p:spPr>
        <p:txBody>
          <a:bodyPr vert="horz" lIns="0" tIns="0" rIns="0" bIns="0" rtlCol="0">
            <a:spAutoFit/>
          </a:bodyPr>
          <a:lstStyle/>
          <a:p>
            <a:r>
              <a:rPr lang="en-IN" sz="2200" dirty="0">
                <a:solidFill>
                  <a:srgbClr val="10B981"/>
                </a:solidFill>
                <a:latin typeface="Segoe MDL2 Assets" panose="050A0102010101010101" pitchFamily="18" charset="0"/>
              </a:rPr>
              <a:t></a:t>
            </a:r>
            <a:r>
              <a:rPr lang="en-IN" dirty="0"/>
              <a:t> </a:t>
            </a:r>
            <a:r>
              <a:rPr lang="en-IN" sz="2400" b="1" dirty="0">
                <a:solidFill>
                  <a:srgbClr val="FFFFFF"/>
                </a:solidFill>
                <a:latin typeface="Poppins" panose="00000500000000000000" pitchFamily="2" charset="0"/>
              </a:rPr>
              <a:t> Proposed Syste</a:t>
            </a:r>
            <a:r>
              <a:rPr lang="en-IN" sz="2400" b="1" dirty="0">
                <a:latin typeface="Poppins" panose="00000500000000000000" pitchFamily="2" charset="0"/>
                <a:cs typeface="Poppins" panose="00000500000000000000" pitchFamily="2" charset="0"/>
              </a:rPr>
              <a:t>m</a:t>
            </a:r>
          </a:p>
        </p:txBody>
      </p:sp>
      <p:sp>
        <p:nvSpPr>
          <p:cNvPr id="3" name="Rectangle 2">
            <a:extLst>
              <a:ext uri="{FF2B5EF4-FFF2-40B4-BE49-F238E27FC236}">
                <a16:creationId xmlns:a16="http://schemas.microsoft.com/office/drawing/2014/main" id="{F94A58B7-9A0D-587B-D11A-4D46864BC283}"/>
              </a:ext>
            </a:extLst>
          </p:cNvPr>
          <p:cNvSpPr/>
          <p:nvPr/>
        </p:nvSpPr>
        <p:spPr>
          <a:xfrm>
            <a:off x="635000" y="889000"/>
            <a:ext cx="1016000" cy="25400"/>
          </a:xfrm>
          <a:prstGeom prst="rect">
            <a:avLst/>
          </a:prstGeom>
          <a:solidFill>
            <a:srgbClr val="10B98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F6FCB5C5-B521-ADBA-39EE-B4C991803C0E}"/>
              </a:ext>
            </a:extLst>
          </p:cNvPr>
          <p:cNvSpPr/>
          <p:nvPr/>
        </p:nvSpPr>
        <p:spPr>
          <a:xfrm>
            <a:off x="762000" y="1397000"/>
            <a:ext cx="5207000" cy="4572000"/>
          </a:xfrm>
          <a:prstGeom prst="roundRect">
            <a:avLst>
              <a:gd name="adj" fmla="val 3000"/>
            </a:avLst>
          </a:prstGeom>
          <a:solidFill>
            <a:srgbClr val="050807"/>
          </a:solidFill>
          <a:ln w="19050" cap="sq">
            <a:solidFill>
              <a:srgbClr val="145040"/>
            </a:solidFill>
            <a:prstDash val="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A56A19D9-FACD-4A11-8B38-6FF4DED367FB}"/>
              </a:ext>
            </a:extLst>
          </p:cNvPr>
          <p:cNvSpPr/>
          <p:nvPr/>
        </p:nvSpPr>
        <p:spPr>
          <a:xfrm>
            <a:off x="952500" y="1587500"/>
            <a:ext cx="4826000" cy="4191000"/>
          </a:xfrm>
          <a:prstGeom prst="roundRect">
            <a:avLst>
              <a:gd name="adj" fmla="val 3000"/>
            </a:avLst>
          </a:prstGeom>
          <a:solidFill>
            <a:srgbClr val="0A0C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254000" rIns="254000" bIns="254000" rtlCol="0" anchor="ctr"/>
          <a:lstStyle/>
          <a:p>
            <a:pPr algn="ctr"/>
            <a:r>
              <a:rPr lang="en-US" sz="1250">
                <a:solidFill>
                  <a:srgbClr val="64786E"/>
                </a:solidFill>
                <a:latin typeface="Inter"/>
              </a:rPr>
              <a:t>[Add screenshot of Farmogram home page]</a:t>
            </a:r>
            <a:endParaRPr lang="en-IN" sz="1250">
              <a:solidFill>
                <a:srgbClr val="64786E"/>
              </a:solidFill>
              <a:latin typeface="Inter"/>
            </a:endParaRPr>
          </a:p>
        </p:txBody>
      </p:sp>
      <p:sp>
        <p:nvSpPr>
          <p:cNvPr id="6" name="TextBox 5">
            <a:extLst>
              <a:ext uri="{FF2B5EF4-FFF2-40B4-BE49-F238E27FC236}">
                <a16:creationId xmlns:a16="http://schemas.microsoft.com/office/drawing/2014/main" id="{2CD1F9EA-5DD2-1EC1-2136-661A0C8D764F}"/>
              </a:ext>
            </a:extLst>
          </p:cNvPr>
          <p:cNvSpPr txBox="1"/>
          <p:nvPr/>
        </p:nvSpPr>
        <p:spPr>
          <a:xfrm>
            <a:off x="6223000" y="1460500"/>
            <a:ext cx="5207000" cy="4001095"/>
          </a:xfrm>
          <a:prstGeom prst="rect">
            <a:avLst/>
          </a:prstGeom>
          <a:noFill/>
        </p:spPr>
        <p:txBody>
          <a:bodyPr vert="horz" wrap="square" lIns="0" tIns="0" rIns="0" bIns="0" rtlCol="0" anchor="t">
            <a:spAutoFit/>
          </a:bodyPr>
          <a:lstStyle/>
          <a:p>
            <a:pPr>
              <a:spcAft>
                <a:spcPts val="1200"/>
              </a:spcAft>
            </a:pPr>
            <a:r>
              <a:rPr lang="en-US" sz="2000" b="1" dirty="0">
                <a:solidFill>
                  <a:srgbClr val="10B981"/>
                </a:solidFill>
                <a:latin typeface="Inter"/>
              </a:rPr>
              <a:t>✔</a:t>
            </a:r>
            <a:r>
              <a:rPr lang="en-US" sz="2000" dirty="0">
                <a:solidFill>
                  <a:srgbClr val="FFFFFF"/>
                </a:solidFill>
                <a:latin typeface="Inter"/>
              </a:rPr>
              <a:t>  </a:t>
            </a:r>
            <a:r>
              <a:rPr lang="en-US" sz="2000" dirty="0" err="1">
                <a:solidFill>
                  <a:srgbClr val="FFFFFF"/>
                </a:solidFill>
                <a:latin typeface="Inter"/>
              </a:rPr>
              <a:t>Farmogram</a:t>
            </a:r>
            <a:r>
              <a:rPr lang="en-US" sz="2000" dirty="0">
                <a:solidFill>
                  <a:srgbClr val="FFFFFF"/>
                </a:solidFill>
                <a:latin typeface="Inter"/>
              </a:rPr>
              <a:t> provides a direct online market for farmers to sell to buyers without broker fees.
</a:t>
            </a:r>
            <a:r>
              <a:rPr lang="en-US" sz="2000" dirty="0">
                <a:solidFill>
                  <a:srgbClr val="10B981"/>
                </a:solidFill>
                <a:latin typeface="Inter"/>
              </a:rPr>
              <a:t>✔</a:t>
            </a:r>
            <a:r>
              <a:rPr lang="en-US" sz="2000" dirty="0">
                <a:solidFill>
                  <a:srgbClr val="FFFFFF"/>
                </a:solidFill>
                <a:latin typeface="Inter"/>
              </a:rPr>
              <a:t>  Buyers can pay a 20% advance fee to book crops early.
</a:t>
            </a:r>
            <a:r>
              <a:rPr lang="en-US" sz="2000" dirty="0">
                <a:solidFill>
                  <a:srgbClr val="10B981"/>
                </a:solidFill>
                <a:latin typeface="Inter"/>
              </a:rPr>
              <a:t>✔</a:t>
            </a:r>
            <a:r>
              <a:rPr lang="en-US" sz="2000" dirty="0">
                <a:solidFill>
                  <a:srgbClr val="FFFFFF"/>
                </a:solidFill>
                <a:latin typeface="Inter"/>
              </a:rPr>
              <a:t>  This advance fee gives farmers the money they need to grow their crops.
</a:t>
            </a:r>
            <a:r>
              <a:rPr lang="en-US" sz="2000" dirty="0">
                <a:solidFill>
                  <a:srgbClr val="10B981"/>
                </a:solidFill>
                <a:latin typeface="Inter"/>
              </a:rPr>
              <a:t>✔</a:t>
            </a:r>
            <a:r>
              <a:rPr lang="en-US" sz="2000" dirty="0">
                <a:solidFill>
                  <a:srgbClr val="FFFFFF"/>
                </a:solidFill>
                <a:latin typeface="Inter"/>
              </a:rPr>
              <a:t>  The system creates a simple, automatic checklist to help farmers track watering and fertilizing.
</a:t>
            </a:r>
            <a:r>
              <a:rPr lang="en-US" sz="2000" dirty="0">
                <a:solidFill>
                  <a:srgbClr val="10B981"/>
                </a:solidFill>
                <a:latin typeface="Inter"/>
              </a:rPr>
              <a:t>✔</a:t>
            </a:r>
            <a:r>
              <a:rPr lang="en-US" sz="2000" dirty="0">
                <a:solidFill>
                  <a:srgbClr val="FFFFFF"/>
                </a:solidFill>
                <a:latin typeface="Inter"/>
              </a:rPr>
              <a:t>  Farmers can upload photos of damaged crops to ask for help or insurance easily.</a:t>
            </a:r>
            <a:endParaRPr lang="en-IN" sz="2000" dirty="0">
              <a:solidFill>
                <a:srgbClr val="FFFFFF"/>
              </a:solidFill>
              <a:latin typeface="Inter"/>
            </a:endParaRPr>
          </a:p>
        </p:txBody>
      </p:sp>
      <p:pic>
        <p:nvPicPr>
          <p:cNvPr id="8" name="Picture 7">
            <a:extLst>
              <a:ext uri="{FF2B5EF4-FFF2-40B4-BE49-F238E27FC236}">
                <a16:creationId xmlns:a16="http://schemas.microsoft.com/office/drawing/2014/main" id="{D4B42CD1-8D76-2359-9288-51E894D7C6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655" y="1460500"/>
            <a:ext cx="5117690" cy="4438855"/>
          </a:xfrm>
          <a:prstGeom prst="rect">
            <a:avLst/>
          </a:prstGeom>
        </p:spPr>
      </p:pic>
    </p:spTree>
    <p:extLst>
      <p:ext uri="{BB962C8B-B14F-4D97-AF65-F5344CB8AC3E}">
        <p14:creationId xmlns:p14="http://schemas.microsoft.com/office/powerpoint/2010/main" val="647557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AB7D9B-B61D-8E9D-41DC-4484307C3CD7}"/>
              </a:ext>
            </a:extLst>
          </p:cNvPr>
          <p:cNvSpPr txBox="1"/>
          <p:nvPr/>
        </p:nvSpPr>
        <p:spPr>
          <a:xfrm>
            <a:off x="635000" y="317500"/>
            <a:ext cx="10922000" cy="369332"/>
          </a:xfrm>
          <a:prstGeom prst="rect">
            <a:avLst/>
          </a:prstGeom>
          <a:noFill/>
        </p:spPr>
        <p:txBody>
          <a:bodyPr vert="horz" lIns="0" tIns="0" rIns="0" bIns="0" rtlCol="0">
            <a:spAutoFit/>
          </a:bodyPr>
          <a:lstStyle/>
          <a:p>
            <a:r>
              <a:rPr lang="en-IN" sz="2200" dirty="0">
                <a:solidFill>
                  <a:srgbClr val="10B981"/>
                </a:solidFill>
                <a:latin typeface="Segoe MDL2 Assets" panose="050A0102010101010101" pitchFamily="18" charset="0"/>
              </a:rPr>
              <a:t></a:t>
            </a:r>
            <a:r>
              <a:rPr lang="en-IN" dirty="0"/>
              <a:t> </a:t>
            </a:r>
            <a:r>
              <a:rPr lang="en-IN" sz="2400" b="1" dirty="0">
                <a:solidFill>
                  <a:srgbClr val="FFFFFF"/>
                </a:solidFill>
                <a:latin typeface="Poppins" panose="00000500000000000000" pitchFamily="2" charset="0"/>
              </a:rPr>
              <a:t> System Architectur</a:t>
            </a:r>
            <a:r>
              <a:rPr lang="en-IN" sz="2400" b="1" dirty="0">
                <a:latin typeface="Poppins" panose="00000500000000000000" pitchFamily="2" charset="0"/>
                <a:cs typeface="Poppins" panose="00000500000000000000" pitchFamily="2" charset="0"/>
              </a:rPr>
              <a:t>e</a:t>
            </a:r>
          </a:p>
        </p:txBody>
      </p:sp>
      <p:sp>
        <p:nvSpPr>
          <p:cNvPr id="3" name="Rectangle 2">
            <a:extLst>
              <a:ext uri="{FF2B5EF4-FFF2-40B4-BE49-F238E27FC236}">
                <a16:creationId xmlns:a16="http://schemas.microsoft.com/office/drawing/2014/main" id="{A7F1BF82-071D-02E2-EF1C-AA501373D09C}"/>
              </a:ext>
            </a:extLst>
          </p:cNvPr>
          <p:cNvSpPr/>
          <p:nvPr/>
        </p:nvSpPr>
        <p:spPr>
          <a:xfrm>
            <a:off x="635000" y="889000"/>
            <a:ext cx="1016000" cy="25400"/>
          </a:xfrm>
          <a:prstGeom prst="rect">
            <a:avLst/>
          </a:prstGeom>
          <a:solidFill>
            <a:srgbClr val="10B98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8FAEC399-3073-4192-CCC6-73FFE511D742}"/>
              </a:ext>
            </a:extLst>
          </p:cNvPr>
          <p:cNvSpPr/>
          <p:nvPr/>
        </p:nvSpPr>
        <p:spPr>
          <a:xfrm>
            <a:off x="3397250" y="1677219"/>
            <a:ext cx="5894234" cy="5008715"/>
          </a:xfrm>
          <a:prstGeom prst="roundRect">
            <a:avLst>
              <a:gd name="adj" fmla="val 3000"/>
            </a:avLst>
          </a:prstGeom>
          <a:solidFill>
            <a:srgbClr val="050807"/>
          </a:solidFill>
          <a:ln w="19050" cap="sq">
            <a:solidFill>
              <a:srgbClr val="145040"/>
            </a:solidFill>
            <a:prstDash val="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03A1179F-3D7E-E84B-95FA-8389CCCE135E}"/>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557228" y="1769905"/>
            <a:ext cx="5586772" cy="4770595"/>
          </a:xfrm>
          <a:prstGeom prst="roundRect">
            <a:avLst>
              <a:gd name="adj" fmla="val 3000"/>
            </a:avLst>
          </a:prstGeom>
        </p:spPr>
      </p:pic>
      <p:sp>
        <p:nvSpPr>
          <p:cNvPr id="7" name="TextBox 6">
            <a:extLst>
              <a:ext uri="{FF2B5EF4-FFF2-40B4-BE49-F238E27FC236}">
                <a16:creationId xmlns:a16="http://schemas.microsoft.com/office/drawing/2014/main" id="{7AF2426B-0F0F-D4DB-129C-1E32F946CE23}"/>
              </a:ext>
            </a:extLst>
          </p:cNvPr>
          <p:cNvSpPr txBox="1"/>
          <p:nvPr/>
        </p:nvSpPr>
        <p:spPr>
          <a:xfrm>
            <a:off x="635000" y="1111144"/>
            <a:ext cx="3189748" cy="369332"/>
          </a:xfrm>
          <a:prstGeom prst="rect">
            <a:avLst/>
          </a:prstGeom>
          <a:noFill/>
        </p:spPr>
        <p:txBody>
          <a:bodyPr wrap="square" rtlCol="0">
            <a:spAutoFit/>
          </a:bodyPr>
          <a:lstStyle/>
          <a:p>
            <a:r>
              <a:rPr lang="en-IN" b="1" dirty="0">
                <a:latin typeface="Poppins" panose="00000500000000000000" pitchFamily="2" charset="0"/>
                <a:cs typeface="Poppins" panose="00000500000000000000" pitchFamily="2" charset="0"/>
              </a:rPr>
              <a:t>Data Flow Diagram</a:t>
            </a:r>
          </a:p>
        </p:txBody>
      </p:sp>
      <p:sp>
        <p:nvSpPr>
          <p:cNvPr id="9" name="Rectangle 8">
            <a:extLst>
              <a:ext uri="{FF2B5EF4-FFF2-40B4-BE49-F238E27FC236}">
                <a16:creationId xmlns:a16="http://schemas.microsoft.com/office/drawing/2014/main" id="{BDA7C78A-B3D5-A443-8899-2AA9B9C579B1}"/>
              </a:ext>
            </a:extLst>
          </p:cNvPr>
          <p:cNvSpPr/>
          <p:nvPr/>
        </p:nvSpPr>
        <p:spPr>
          <a:xfrm>
            <a:off x="722671" y="1504597"/>
            <a:ext cx="1016000" cy="25400"/>
          </a:xfrm>
          <a:prstGeom prst="rect">
            <a:avLst/>
          </a:prstGeom>
          <a:solidFill>
            <a:srgbClr val="10B98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50248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8FAEC399-3073-4192-CCC6-73FFE511D742}"/>
              </a:ext>
            </a:extLst>
          </p:cNvPr>
          <p:cNvSpPr/>
          <p:nvPr/>
        </p:nvSpPr>
        <p:spPr>
          <a:xfrm>
            <a:off x="2880031" y="1143000"/>
            <a:ext cx="6362291" cy="5474110"/>
          </a:xfrm>
          <a:prstGeom prst="roundRect">
            <a:avLst>
              <a:gd name="adj" fmla="val 3000"/>
            </a:avLst>
          </a:prstGeom>
          <a:solidFill>
            <a:srgbClr val="050807"/>
          </a:solidFill>
          <a:ln w="19050" cap="sq">
            <a:solidFill>
              <a:srgbClr val="145040"/>
            </a:solidFill>
            <a:prstDash val="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03A1179F-3D7E-E84B-95FA-8389CCCE135E}"/>
              </a:ext>
            </a:extLst>
          </p:cNvPr>
          <p:cNvPicPr>
            <a:picLocks/>
          </p:cNvPicPr>
          <p:nvPr/>
        </p:nvPicPr>
        <p:blipFill>
          <a:blip r:embed="rId2">
            <a:extLst>
              <a:ext uri="{28A0092B-C50C-407E-A947-70E740481C1C}">
                <a14:useLocalDpi xmlns:a14="http://schemas.microsoft.com/office/drawing/2010/main" val="0"/>
              </a:ext>
            </a:extLst>
          </a:blip>
          <a:srcRect l="1253" r="1253"/>
          <a:stretch/>
        </p:blipFill>
        <p:spPr>
          <a:xfrm>
            <a:off x="3076985" y="1273072"/>
            <a:ext cx="6038030" cy="5255547"/>
          </a:xfrm>
          <a:prstGeom prst="roundRect">
            <a:avLst>
              <a:gd name="adj" fmla="val 3000"/>
            </a:avLst>
          </a:prstGeom>
        </p:spPr>
      </p:pic>
      <p:sp>
        <p:nvSpPr>
          <p:cNvPr id="7" name="TextBox 6">
            <a:extLst>
              <a:ext uri="{FF2B5EF4-FFF2-40B4-BE49-F238E27FC236}">
                <a16:creationId xmlns:a16="http://schemas.microsoft.com/office/drawing/2014/main" id="{7AF2426B-0F0F-D4DB-129C-1E32F946CE23}"/>
              </a:ext>
            </a:extLst>
          </p:cNvPr>
          <p:cNvSpPr txBox="1"/>
          <p:nvPr/>
        </p:nvSpPr>
        <p:spPr>
          <a:xfrm>
            <a:off x="477684" y="635267"/>
            <a:ext cx="4035322" cy="369332"/>
          </a:xfrm>
          <a:prstGeom prst="rect">
            <a:avLst/>
          </a:prstGeom>
          <a:noFill/>
        </p:spPr>
        <p:txBody>
          <a:bodyPr wrap="square" rtlCol="0">
            <a:spAutoFit/>
          </a:bodyPr>
          <a:lstStyle/>
          <a:p>
            <a:r>
              <a:rPr lang="en-IN" b="1" dirty="0">
                <a:latin typeface="Poppins" panose="00000500000000000000" pitchFamily="2" charset="0"/>
                <a:cs typeface="Poppins" panose="00000500000000000000" pitchFamily="2" charset="0"/>
              </a:rPr>
              <a:t>Entity Relationship Diagram</a:t>
            </a:r>
          </a:p>
        </p:txBody>
      </p:sp>
      <p:sp>
        <p:nvSpPr>
          <p:cNvPr id="9" name="Rectangle 8">
            <a:extLst>
              <a:ext uri="{FF2B5EF4-FFF2-40B4-BE49-F238E27FC236}">
                <a16:creationId xmlns:a16="http://schemas.microsoft.com/office/drawing/2014/main" id="{BDA7C78A-B3D5-A443-8899-2AA9B9C579B1}"/>
              </a:ext>
            </a:extLst>
          </p:cNvPr>
          <p:cNvSpPr/>
          <p:nvPr/>
        </p:nvSpPr>
        <p:spPr>
          <a:xfrm>
            <a:off x="560439" y="1004599"/>
            <a:ext cx="1016000" cy="25400"/>
          </a:xfrm>
          <a:prstGeom prst="rect">
            <a:avLst/>
          </a:prstGeom>
          <a:solidFill>
            <a:srgbClr val="10B98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26239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8FAEC399-3073-4192-CCC6-73FFE511D742}"/>
              </a:ext>
            </a:extLst>
          </p:cNvPr>
          <p:cNvSpPr/>
          <p:nvPr/>
        </p:nvSpPr>
        <p:spPr>
          <a:xfrm>
            <a:off x="1845187" y="1103671"/>
            <a:ext cx="8501626" cy="5474110"/>
          </a:xfrm>
          <a:prstGeom prst="roundRect">
            <a:avLst>
              <a:gd name="adj" fmla="val 3000"/>
            </a:avLst>
          </a:prstGeom>
          <a:solidFill>
            <a:srgbClr val="050807"/>
          </a:solidFill>
          <a:ln w="19050" cap="sq">
            <a:solidFill>
              <a:srgbClr val="145040"/>
            </a:solidFill>
            <a:prstDash val="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03A1179F-3D7E-E84B-95FA-8389CCCE135E}"/>
              </a:ext>
            </a:extLst>
          </p:cNvPr>
          <p:cNvPicPr>
            <a:picLocks/>
          </p:cNvPicPr>
          <p:nvPr/>
        </p:nvPicPr>
        <p:blipFill>
          <a:blip r:embed="rId2">
            <a:extLst>
              <a:ext uri="{28A0092B-C50C-407E-A947-70E740481C1C}">
                <a14:useLocalDpi xmlns:a14="http://schemas.microsoft.com/office/drawing/2010/main" val="0"/>
              </a:ext>
            </a:extLst>
          </a:blip>
          <a:srcRect l="154" r="8" b="967"/>
          <a:stretch/>
        </p:blipFill>
        <p:spPr>
          <a:xfrm>
            <a:off x="1927124" y="1179872"/>
            <a:ext cx="8337754" cy="5279922"/>
          </a:xfrm>
          <a:prstGeom prst="roundRect">
            <a:avLst>
              <a:gd name="adj" fmla="val 3000"/>
            </a:avLst>
          </a:prstGeom>
        </p:spPr>
      </p:pic>
      <p:sp>
        <p:nvSpPr>
          <p:cNvPr id="7" name="TextBox 6">
            <a:extLst>
              <a:ext uri="{FF2B5EF4-FFF2-40B4-BE49-F238E27FC236}">
                <a16:creationId xmlns:a16="http://schemas.microsoft.com/office/drawing/2014/main" id="{7AF2426B-0F0F-D4DB-129C-1E32F946CE23}"/>
              </a:ext>
            </a:extLst>
          </p:cNvPr>
          <p:cNvSpPr txBox="1"/>
          <p:nvPr/>
        </p:nvSpPr>
        <p:spPr>
          <a:xfrm>
            <a:off x="477684" y="635267"/>
            <a:ext cx="4035322" cy="369332"/>
          </a:xfrm>
          <a:prstGeom prst="rect">
            <a:avLst/>
          </a:prstGeom>
          <a:noFill/>
        </p:spPr>
        <p:txBody>
          <a:bodyPr wrap="square" rtlCol="0">
            <a:spAutoFit/>
          </a:bodyPr>
          <a:lstStyle/>
          <a:p>
            <a:r>
              <a:rPr lang="en-IN" b="1" dirty="0">
                <a:latin typeface="Poppins" panose="00000500000000000000" pitchFamily="2" charset="0"/>
                <a:cs typeface="Poppins" panose="00000500000000000000" pitchFamily="2" charset="0"/>
              </a:rPr>
              <a:t>Schema Diagram</a:t>
            </a:r>
          </a:p>
        </p:txBody>
      </p:sp>
      <p:sp>
        <p:nvSpPr>
          <p:cNvPr id="9" name="Rectangle 8">
            <a:extLst>
              <a:ext uri="{FF2B5EF4-FFF2-40B4-BE49-F238E27FC236}">
                <a16:creationId xmlns:a16="http://schemas.microsoft.com/office/drawing/2014/main" id="{BDA7C78A-B3D5-A443-8899-2AA9B9C579B1}"/>
              </a:ext>
            </a:extLst>
          </p:cNvPr>
          <p:cNvSpPr/>
          <p:nvPr/>
        </p:nvSpPr>
        <p:spPr>
          <a:xfrm>
            <a:off x="560439" y="1004599"/>
            <a:ext cx="1016000" cy="25400"/>
          </a:xfrm>
          <a:prstGeom prst="rect">
            <a:avLst/>
          </a:prstGeom>
          <a:solidFill>
            <a:srgbClr val="10B98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10468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D2B3E7-C3D4-44CA-438D-526A5A2ECC4C}"/>
              </a:ext>
            </a:extLst>
          </p:cNvPr>
          <p:cNvSpPr txBox="1"/>
          <p:nvPr/>
        </p:nvSpPr>
        <p:spPr>
          <a:xfrm>
            <a:off x="635000" y="317500"/>
            <a:ext cx="10922000" cy="369332"/>
          </a:xfrm>
          <a:prstGeom prst="rect">
            <a:avLst/>
          </a:prstGeom>
          <a:noFill/>
        </p:spPr>
        <p:txBody>
          <a:bodyPr vert="horz" lIns="0" tIns="0" rIns="0" bIns="0" rtlCol="0">
            <a:spAutoFit/>
          </a:bodyPr>
          <a:lstStyle/>
          <a:p>
            <a:r>
              <a:rPr lang="en-IN" sz="2200" dirty="0">
                <a:solidFill>
                  <a:srgbClr val="10B981"/>
                </a:solidFill>
                <a:latin typeface="Segoe MDL2 Assets" panose="050A0102010101010101" pitchFamily="18" charset="0"/>
              </a:rPr>
              <a:t></a:t>
            </a:r>
            <a:r>
              <a:rPr lang="en-IN" dirty="0"/>
              <a:t> </a:t>
            </a:r>
            <a:r>
              <a:rPr lang="en-IN" sz="2400" b="1" dirty="0">
                <a:solidFill>
                  <a:srgbClr val="FFFFFF"/>
                </a:solidFill>
                <a:latin typeface="Poppins" panose="00000500000000000000" pitchFamily="2" charset="0"/>
              </a:rPr>
              <a:t> Implementation &amp; Screenshot</a:t>
            </a:r>
            <a:r>
              <a:rPr lang="en-IN" sz="2400" b="1" dirty="0">
                <a:latin typeface="Poppins" panose="00000500000000000000" pitchFamily="2" charset="0"/>
                <a:cs typeface="Poppins" panose="00000500000000000000" pitchFamily="2" charset="0"/>
              </a:rPr>
              <a:t>s</a:t>
            </a:r>
          </a:p>
        </p:txBody>
      </p:sp>
      <p:sp>
        <p:nvSpPr>
          <p:cNvPr id="3" name="Rectangle 2">
            <a:extLst>
              <a:ext uri="{FF2B5EF4-FFF2-40B4-BE49-F238E27FC236}">
                <a16:creationId xmlns:a16="http://schemas.microsoft.com/office/drawing/2014/main" id="{8BDA2041-2C3B-74B7-F107-B62420EC0ADC}"/>
              </a:ext>
            </a:extLst>
          </p:cNvPr>
          <p:cNvSpPr/>
          <p:nvPr/>
        </p:nvSpPr>
        <p:spPr>
          <a:xfrm>
            <a:off x="635000" y="889000"/>
            <a:ext cx="1016000" cy="25400"/>
          </a:xfrm>
          <a:prstGeom prst="rect">
            <a:avLst/>
          </a:prstGeom>
          <a:solidFill>
            <a:srgbClr val="10B98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05F0E60A-1B98-A1CA-40C3-7E56471FF8D8}"/>
              </a:ext>
            </a:extLst>
          </p:cNvPr>
          <p:cNvSpPr/>
          <p:nvPr/>
        </p:nvSpPr>
        <p:spPr>
          <a:xfrm>
            <a:off x="762000" y="1397000"/>
            <a:ext cx="5207000" cy="2159000"/>
          </a:xfrm>
          <a:prstGeom prst="roundRect">
            <a:avLst>
              <a:gd name="adj" fmla="val 4000"/>
            </a:avLst>
          </a:prstGeom>
          <a:solidFill>
            <a:srgbClr val="0C2820"/>
          </a:solidFill>
          <a:ln w="12700">
            <a:solidFill>
              <a:srgbClr val="145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5118C17D-96C9-5AD1-FFC6-81381A388AB2}"/>
              </a:ext>
            </a:extLst>
          </p:cNvPr>
          <p:cNvSpPr/>
          <p:nvPr/>
        </p:nvSpPr>
        <p:spPr>
          <a:xfrm>
            <a:off x="952500" y="1587500"/>
            <a:ext cx="304800" cy="304800"/>
          </a:xfrm>
          <a:prstGeom prst="ellipse">
            <a:avLst/>
          </a:prstGeom>
          <a:solidFill>
            <a:srgbClr val="0F37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000">
                <a:solidFill>
                  <a:srgbClr val="10B981"/>
                </a:solidFill>
                <a:latin typeface="Segoe MDL2 Assets" panose="050A0102010101010101" pitchFamily="18" charset="0"/>
              </a:rPr>
              <a:t></a:t>
            </a:r>
          </a:p>
        </p:txBody>
      </p:sp>
      <p:sp>
        <p:nvSpPr>
          <p:cNvPr id="6" name="TextBox 5">
            <a:extLst>
              <a:ext uri="{FF2B5EF4-FFF2-40B4-BE49-F238E27FC236}">
                <a16:creationId xmlns:a16="http://schemas.microsoft.com/office/drawing/2014/main" id="{20177BF4-0753-FE09-8C42-3B1CB5429FF0}"/>
              </a:ext>
            </a:extLst>
          </p:cNvPr>
          <p:cNvSpPr txBox="1"/>
          <p:nvPr/>
        </p:nvSpPr>
        <p:spPr>
          <a:xfrm>
            <a:off x="1371600" y="1549400"/>
            <a:ext cx="1778000" cy="1631216"/>
          </a:xfrm>
          <a:prstGeom prst="rect">
            <a:avLst/>
          </a:prstGeom>
          <a:noFill/>
        </p:spPr>
        <p:txBody>
          <a:bodyPr vert="horz" wrap="square" lIns="0" tIns="0" rIns="0" bIns="0" rtlCol="0">
            <a:spAutoFit/>
          </a:bodyPr>
          <a:lstStyle/>
          <a:p>
            <a:pPr>
              <a:spcAft>
                <a:spcPts val="600"/>
              </a:spcAft>
            </a:pPr>
            <a:r>
              <a:rPr lang="en-US" sz="1600" b="1" dirty="0">
                <a:solidFill>
                  <a:srgbClr val="FFFFFF"/>
                </a:solidFill>
                <a:latin typeface="Inter"/>
              </a:rPr>
              <a:t>Farmer Screen
The Farmer Dashboard Portal shows daily tasks and money earned.</a:t>
            </a:r>
            <a:endParaRPr lang="en-IN" sz="1600" b="1" dirty="0">
              <a:solidFill>
                <a:srgbClr val="FFFFFF"/>
              </a:solidFill>
              <a:latin typeface="Inter"/>
            </a:endParaRPr>
          </a:p>
        </p:txBody>
      </p:sp>
      <p:sp>
        <p:nvSpPr>
          <p:cNvPr id="7" name="Rectangle: Rounded Corners 6">
            <a:extLst>
              <a:ext uri="{FF2B5EF4-FFF2-40B4-BE49-F238E27FC236}">
                <a16:creationId xmlns:a16="http://schemas.microsoft.com/office/drawing/2014/main" id="{36536001-1B40-BEF7-9744-6CDC03251156}"/>
              </a:ext>
            </a:extLst>
          </p:cNvPr>
          <p:cNvSpPr/>
          <p:nvPr/>
        </p:nvSpPr>
        <p:spPr>
          <a:xfrm>
            <a:off x="3302000" y="1587500"/>
            <a:ext cx="2603500" cy="1778000"/>
          </a:xfrm>
          <a:prstGeom prst="roundRect">
            <a:avLst>
              <a:gd name="adj" fmla="val 3000"/>
            </a:avLst>
          </a:prstGeom>
          <a:solidFill>
            <a:srgbClr val="0A0C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127000" rIns="127000" bIns="127000" rtlCol="0" anchor="ctr"/>
          <a:lstStyle/>
          <a:p>
            <a:pPr algn="ctr"/>
            <a:r>
              <a:rPr lang="en-IN" sz="900" dirty="0">
                <a:solidFill>
                  <a:srgbClr val="64786E"/>
                </a:solidFill>
                <a:latin typeface="Inter"/>
              </a:rPr>
              <a:t>[Click to add screenshot]</a:t>
            </a:r>
          </a:p>
        </p:txBody>
      </p:sp>
      <p:sp>
        <p:nvSpPr>
          <p:cNvPr id="8" name="Rectangle: Rounded Corners 7">
            <a:extLst>
              <a:ext uri="{FF2B5EF4-FFF2-40B4-BE49-F238E27FC236}">
                <a16:creationId xmlns:a16="http://schemas.microsoft.com/office/drawing/2014/main" id="{4B1D257B-5D87-0413-3BB6-BC0375FC6FCC}"/>
              </a:ext>
            </a:extLst>
          </p:cNvPr>
          <p:cNvSpPr/>
          <p:nvPr/>
        </p:nvSpPr>
        <p:spPr>
          <a:xfrm>
            <a:off x="6223000" y="1397000"/>
            <a:ext cx="5207000" cy="2159000"/>
          </a:xfrm>
          <a:prstGeom prst="roundRect">
            <a:avLst>
              <a:gd name="adj" fmla="val 4000"/>
            </a:avLst>
          </a:prstGeom>
          <a:solidFill>
            <a:srgbClr val="0C2820"/>
          </a:solidFill>
          <a:ln w="12700">
            <a:solidFill>
              <a:srgbClr val="145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E52D9A59-E8D6-F892-EE59-912C1015BEDA}"/>
              </a:ext>
            </a:extLst>
          </p:cNvPr>
          <p:cNvSpPr/>
          <p:nvPr/>
        </p:nvSpPr>
        <p:spPr>
          <a:xfrm>
            <a:off x="6413500" y="1587500"/>
            <a:ext cx="304800" cy="304800"/>
          </a:xfrm>
          <a:prstGeom prst="ellipse">
            <a:avLst/>
          </a:prstGeom>
          <a:solidFill>
            <a:srgbClr val="0F37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000">
                <a:solidFill>
                  <a:srgbClr val="10B981"/>
                </a:solidFill>
                <a:latin typeface="Segoe MDL2 Assets" panose="050A0102010101010101" pitchFamily="18" charset="0"/>
              </a:rPr>
              <a:t></a:t>
            </a:r>
          </a:p>
        </p:txBody>
      </p:sp>
      <p:sp>
        <p:nvSpPr>
          <p:cNvPr id="10" name="TextBox 9">
            <a:extLst>
              <a:ext uri="{FF2B5EF4-FFF2-40B4-BE49-F238E27FC236}">
                <a16:creationId xmlns:a16="http://schemas.microsoft.com/office/drawing/2014/main" id="{25CD0470-8C99-7CF9-D7FE-D5E7F0CA9B1F}"/>
              </a:ext>
            </a:extLst>
          </p:cNvPr>
          <p:cNvSpPr txBox="1"/>
          <p:nvPr/>
        </p:nvSpPr>
        <p:spPr>
          <a:xfrm>
            <a:off x="6832600" y="1549400"/>
            <a:ext cx="1778000" cy="1631216"/>
          </a:xfrm>
          <a:prstGeom prst="rect">
            <a:avLst/>
          </a:prstGeom>
          <a:noFill/>
        </p:spPr>
        <p:txBody>
          <a:bodyPr vert="horz" wrap="square" lIns="0" tIns="0" rIns="0" bIns="0" rtlCol="0">
            <a:spAutoFit/>
          </a:bodyPr>
          <a:lstStyle/>
          <a:p>
            <a:pPr>
              <a:spcAft>
                <a:spcPts val="600"/>
              </a:spcAft>
            </a:pPr>
            <a:r>
              <a:rPr lang="en-US" sz="1600" b="1" dirty="0">
                <a:solidFill>
                  <a:srgbClr val="FFFFFF"/>
                </a:solidFill>
                <a:latin typeface="Inter"/>
              </a:rPr>
              <a:t>Buyer Screen
The Buyer Marketplace Catalog displays available crops with prices.</a:t>
            </a:r>
            <a:endParaRPr lang="en-IN" sz="1600" b="1" dirty="0">
              <a:solidFill>
                <a:srgbClr val="FFFFFF"/>
              </a:solidFill>
              <a:latin typeface="Inter"/>
            </a:endParaRPr>
          </a:p>
        </p:txBody>
      </p:sp>
      <p:sp>
        <p:nvSpPr>
          <p:cNvPr id="11" name="Rectangle: Rounded Corners 10">
            <a:extLst>
              <a:ext uri="{FF2B5EF4-FFF2-40B4-BE49-F238E27FC236}">
                <a16:creationId xmlns:a16="http://schemas.microsoft.com/office/drawing/2014/main" id="{900B1530-32B4-FC0E-D872-E6CC869442FB}"/>
              </a:ext>
            </a:extLst>
          </p:cNvPr>
          <p:cNvSpPr/>
          <p:nvPr/>
        </p:nvSpPr>
        <p:spPr>
          <a:xfrm>
            <a:off x="8763000" y="1587500"/>
            <a:ext cx="2603500" cy="1778000"/>
          </a:xfrm>
          <a:prstGeom prst="roundRect">
            <a:avLst>
              <a:gd name="adj" fmla="val 3000"/>
            </a:avLst>
          </a:prstGeom>
          <a:solidFill>
            <a:srgbClr val="0A0C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127000" rIns="127000" bIns="127000" rtlCol="0" anchor="ctr"/>
          <a:lstStyle/>
          <a:p>
            <a:pPr algn="ctr"/>
            <a:r>
              <a:rPr lang="en-IN" sz="900">
                <a:solidFill>
                  <a:srgbClr val="64786E"/>
                </a:solidFill>
                <a:latin typeface="Inter"/>
              </a:rPr>
              <a:t>[Click to add screenshot]</a:t>
            </a:r>
          </a:p>
        </p:txBody>
      </p:sp>
      <p:sp>
        <p:nvSpPr>
          <p:cNvPr id="12" name="Rectangle: Rounded Corners 11">
            <a:extLst>
              <a:ext uri="{FF2B5EF4-FFF2-40B4-BE49-F238E27FC236}">
                <a16:creationId xmlns:a16="http://schemas.microsoft.com/office/drawing/2014/main" id="{FA581218-640A-6213-936C-E7DD9D8769A4}"/>
              </a:ext>
            </a:extLst>
          </p:cNvPr>
          <p:cNvSpPr/>
          <p:nvPr/>
        </p:nvSpPr>
        <p:spPr>
          <a:xfrm>
            <a:off x="762000" y="3810000"/>
            <a:ext cx="5207000" cy="2159000"/>
          </a:xfrm>
          <a:prstGeom prst="roundRect">
            <a:avLst>
              <a:gd name="adj" fmla="val 4000"/>
            </a:avLst>
          </a:prstGeom>
          <a:solidFill>
            <a:srgbClr val="0C2820"/>
          </a:solidFill>
          <a:ln w="12700">
            <a:solidFill>
              <a:srgbClr val="145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1657C701-3FFA-6770-0511-7073BA2F91AB}"/>
              </a:ext>
            </a:extLst>
          </p:cNvPr>
          <p:cNvSpPr/>
          <p:nvPr/>
        </p:nvSpPr>
        <p:spPr>
          <a:xfrm>
            <a:off x="952500" y="4000500"/>
            <a:ext cx="304800" cy="304800"/>
          </a:xfrm>
          <a:prstGeom prst="ellipse">
            <a:avLst/>
          </a:prstGeom>
          <a:solidFill>
            <a:srgbClr val="0F37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000">
                <a:solidFill>
                  <a:srgbClr val="10B981"/>
                </a:solidFill>
                <a:latin typeface="Segoe MDL2 Assets" panose="050A0102010101010101" pitchFamily="18" charset="0"/>
              </a:rPr>
              <a:t></a:t>
            </a:r>
          </a:p>
        </p:txBody>
      </p:sp>
      <p:sp>
        <p:nvSpPr>
          <p:cNvPr id="14" name="TextBox 13">
            <a:extLst>
              <a:ext uri="{FF2B5EF4-FFF2-40B4-BE49-F238E27FC236}">
                <a16:creationId xmlns:a16="http://schemas.microsoft.com/office/drawing/2014/main" id="{333871D2-4F82-4053-35DB-5A2BF385310A}"/>
              </a:ext>
            </a:extLst>
          </p:cNvPr>
          <p:cNvSpPr txBox="1"/>
          <p:nvPr/>
        </p:nvSpPr>
        <p:spPr>
          <a:xfrm>
            <a:off x="1371600" y="3962400"/>
            <a:ext cx="1778000" cy="1631216"/>
          </a:xfrm>
          <a:prstGeom prst="rect">
            <a:avLst/>
          </a:prstGeom>
          <a:noFill/>
        </p:spPr>
        <p:txBody>
          <a:bodyPr vert="horz" wrap="square" lIns="0" tIns="0" rIns="0" bIns="0" rtlCol="0">
            <a:spAutoFit/>
          </a:bodyPr>
          <a:lstStyle/>
          <a:p>
            <a:pPr>
              <a:spcAft>
                <a:spcPts val="600"/>
              </a:spcAft>
            </a:pPr>
            <a:r>
              <a:rPr lang="en-US" sz="1600" b="1" dirty="0">
                <a:solidFill>
                  <a:srgbClr val="FFFFFF"/>
                </a:solidFill>
                <a:latin typeface="Inter"/>
              </a:rPr>
              <a:t>Task Screen
The Crop Tasks and Farming Calendar tracks when to water and fertilize plants.</a:t>
            </a:r>
            <a:endParaRPr lang="en-IN" sz="1600" b="1" dirty="0">
              <a:solidFill>
                <a:srgbClr val="FFFFFF"/>
              </a:solidFill>
              <a:latin typeface="Inter"/>
            </a:endParaRPr>
          </a:p>
        </p:txBody>
      </p:sp>
      <p:sp>
        <p:nvSpPr>
          <p:cNvPr id="15" name="Rectangle: Rounded Corners 14">
            <a:extLst>
              <a:ext uri="{FF2B5EF4-FFF2-40B4-BE49-F238E27FC236}">
                <a16:creationId xmlns:a16="http://schemas.microsoft.com/office/drawing/2014/main" id="{EC486634-4745-B51E-BE7B-F848D8179CD9}"/>
              </a:ext>
            </a:extLst>
          </p:cNvPr>
          <p:cNvSpPr/>
          <p:nvPr/>
        </p:nvSpPr>
        <p:spPr>
          <a:xfrm>
            <a:off x="3302000" y="4000500"/>
            <a:ext cx="2603500" cy="1778000"/>
          </a:xfrm>
          <a:prstGeom prst="roundRect">
            <a:avLst>
              <a:gd name="adj" fmla="val 3000"/>
            </a:avLst>
          </a:prstGeom>
          <a:solidFill>
            <a:srgbClr val="0A0C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127000" rIns="127000" bIns="127000" rtlCol="0" anchor="ctr"/>
          <a:lstStyle/>
          <a:p>
            <a:pPr algn="ctr"/>
            <a:r>
              <a:rPr lang="en-IN" sz="900">
                <a:solidFill>
                  <a:srgbClr val="64786E"/>
                </a:solidFill>
                <a:latin typeface="Inter"/>
              </a:rPr>
              <a:t>[Click to add screenshot]</a:t>
            </a:r>
          </a:p>
        </p:txBody>
      </p:sp>
      <p:sp>
        <p:nvSpPr>
          <p:cNvPr id="16" name="Rectangle: Rounded Corners 15">
            <a:extLst>
              <a:ext uri="{FF2B5EF4-FFF2-40B4-BE49-F238E27FC236}">
                <a16:creationId xmlns:a16="http://schemas.microsoft.com/office/drawing/2014/main" id="{247EDDA1-B757-1F00-9444-B4D1863BFDDC}"/>
              </a:ext>
            </a:extLst>
          </p:cNvPr>
          <p:cNvSpPr/>
          <p:nvPr/>
        </p:nvSpPr>
        <p:spPr>
          <a:xfrm>
            <a:off x="6223000" y="3810000"/>
            <a:ext cx="5207000" cy="2159000"/>
          </a:xfrm>
          <a:prstGeom prst="roundRect">
            <a:avLst>
              <a:gd name="adj" fmla="val 4000"/>
            </a:avLst>
          </a:prstGeom>
          <a:solidFill>
            <a:srgbClr val="0C2820"/>
          </a:solidFill>
          <a:ln w="12700">
            <a:solidFill>
              <a:srgbClr val="145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39F910E2-5461-D4B6-B8A7-269DE53B82F7}"/>
              </a:ext>
            </a:extLst>
          </p:cNvPr>
          <p:cNvSpPr/>
          <p:nvPr/>
        </p:nvSpPr>
        <p:spPr>
          <a:xfrm>
            <a:off x="6413500" y="4000500"/>
            <a:ext cx="304800" cy="304800"/>
          </a:xfrm>
          <a:prstGeom prst="ellipse">
            <a:avLst/>
          </a:prstGeom>
          <a:solidFill>
            <a:srgbClr val="0F37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000">
                <a:solidFill>
                  <a:srgbClr val="10B981"/>
                </a:solidFill>
                <a:latin typeface="Segoe MDL2 Assets" panose="050A0102010101010101" pitchFamily="18" charset="0"/>
              </a:rPr>
              <a:t></a:t>
            </a:r>
          </a:p>
        </p:txBody>
      </p:sp>
      <p:sp>
        <p:nvSpPr>
          <p:cNvPr id="18" name="TextBox 17">
            <a:extLst>
              <a:ext uri="{FF2B5EF4-FFF2-40B4-BE49-F238E27FC236}">
                <a16:creationId xmlns:a16="http://schemas.microsoft.com/office/drawing/2014/main" id="{8FAE943D-95DF-D68C-7B73-8D95D90E23D6}"/>
              </a:ext>
            </a:extLst>
          </p:cNvPr>
          <p:cNvSpPr txBox="1"/>
          <p:nvPr/>
        </p:nvSpPr>
        <p:spPr>
          <a:xfrm>
            <a:off x="6832600" y="3962400"/>
            <a:ext cx="1778000" cy="1631216"/>
          </a:xfrm>
          <a:prstGeom prst="rect">
            <a:avLst/>
          </a:prstGeom>
          <a:noFill/>
        </p:spPr>
        <p:txBody>
          <a:bodyPr vert="horz" wrap="square" lIns="0" tIns="0" rIns="0" bIns="0" rtlCol="0">
            <a:spAutoFit/>
          </a:bodyPr>
          <a:lstStyle/>
          <a:p>
            <a:pPr>
              <a:spcAft>
                <a:spcPts val="600"/>
              </a:spcAft>
            </a:pPr>
            <a:r>
              <a:rPr lang="en-US" sz="1600" b="1" dirty="0">
                <a:solidFill>
                  <a:srgbClr val="FFFFFF"/>
                </a:solidFill>
                <a:latin typeface="Inter"/>
              </a:rPr>
              <a:t>Admin Screen
The Admin System Overview monitors total sales and system health.</a:t>
            </a:r>
            <a:endParaRPr lang="en-IN" sz="1600" b="1" dirty="0">
              <a:solidFill>
                <a:srgbClr val="FFFFFF"/>
              </a:solidFill>
              <a:latin typeface="Inter"/>
            </a:endParaRPr>
          </a:p>
        </p:txBody>
      </p:sp>
      <p:sp>
        <p:nvSpPr>
          <p:cNvPr id="19" name="Rectangle: Rounded Corners 18">
            <a:extLst>
              <a:ext uri="{FF2B5EF4-FFF2-40B4-BE49-F238E27FC236}">
                <a16:creationId xmlns:a16="http://schemas.microsoft.com/office/drawing/2014/main" id="{8E8E0C74-0733-F99A-CA3F-74E07ABE6639}"/>
              </a:ext>
            </a:extLst>
          </p:cNvPr>
          <p:cNvSpPr/>
          <p:nvPr/>
        </p:nvSpPr>
        <p:spPr>
          <a:xfrm>
            <a:off x="8763000" y="4000500"/>
            <a:ext cx="2603500" cy="1778000"/>
          </a:xfrm>
          <a:prstGeom prst="roundRect">
            <a:avLst>
              <a:gd name="adj" fmla="val 3000"/>
            </a:avLst>
          </a:prstGeom>
          <a:solidFill>
            <a:srgbClr val="0A0C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27000" tIns="127000" rIns="127000" bIns="127000" rtlCol="0" anchor="ctr"/>
          <a:lstStyle/>
          <a:p>
            <a:pPr algn="ctr"/>
            <a:r>
              <a:rPr lang="en-IN" sz="900">
                <a:solidFill>
                  <a:srgbClr val="64786E"/>
                </a:solidFill>
                <a:latin typeface="Inter"/>
              </a:rPr>
              <a:t>[Click to add screenshot]</a:t>
            </a:r>
          </a:p>
        </p:txBody>
      </p:sp>
      <p:pic>
        <p:nvPicPr>
          <p:cNvPr id="20" name="Picture 19" descr="A screenshot of a computer&#10;&#10;AI-generated content may be incorrect.">
            <a:extLst>
              <a:ext uri="{FF2B5EF4-FFF2-40B4-BE49-F238E27FC236}">
                <a16:creationId xmlns:a16="http://schemas.microsoft.com/office/drawing/2014/main" id="{AF7E3D9F-0531-5546-4FA9-412FA7E85E4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8977"/>
          <a:stretch/>
        </p:blipFill>
        <p:spPr bwMode="auto">
          <a:xfrm>
            <a:off x="3327400" y="1587500"/>
            <a:ext cx="2578100" cy="1778000"/>
          </a:xfrm>
          <a:prstGeom prst="rect">
            <a:avLst/>
          </a:prstGeom>
          <a:ln>
            <a:noFill/>
          </a:ln>
          <a:extLst>
            <a:ext uri="{53640926-AAD7-44D8-BBD7-CCE9431645EC}">
              <a14:shadowObscured xmlns:a14="http://schemas.microsoft.com/office/drawing/2010/main"/>
            </a:ext>
          </a:extLst>
        </p:spPr>
      </p:pic>
      <p:pic>
        <p:nvPicPr>
          <p:cNvPr id="21" name="Picture 20" descr="A screenshot of a chat&#10;&#10;AI-generated content may be incorrect.">
            <a:extLst>
              <a:ext uri="{FF2B5EF4-FFF2-40B4-BE49-F238E27FC236}">
                <a16:creationId xmlns:a16="http://schemas.microsoft.com/office/drawing/2014/main" id="{38964CE3-24C5-65A6-A7FB-1D7FCABB163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44814"/>
          <a:stretch/>
        </p:blipFill>
        <p:spPr bwMode="auto">
          <a:xfrm>
            <a:off x="3302000" y="4000500"/>
            <a:ext cx="2597099" cy="1778000"/>
          </a:xfrm>
          <a:prstGeom prst="rect">
            <a:avLst/>
          </a:prstGeom>
          <a:ln>
            <a:noFill/>
          </a:ln>
          <a:extLst>
            <a:ext uri="{53640926-AAD7-44D8-BBD7-CCE9431645EC}">
              <a14:shadowObscured xmlns:a14="http://schemas.microsoft.com/office/drawing/2010/main"/>
            </a:ext>
          </a:extLst>
        </p:spPr>
      </p:pic>
      <p:pic>
        <p:nvPicPr>
          <p:cNvPr id="22" name="Picture 21" descr="A screenshot of a computer&#10;&#10;AI-generated content may be incorrect.">
            <a:extLst>
              <a:ext uri="{FF2B5EF4-FFF2-40B4-BE49-F238E27FC236}">
                <a16:creationId xmlns:a16="http://schemas.microsoft.com/office/drawing/2014/main" id="{5E99244B-2E31-9C9E-1FF4-A5772823283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10044"/>
          <a:stretch/>
        </p:blipFill>
        <p:spPr bwMode="auto">
          <a:xfrm>
            <a:off x="8813800" y="1605146"/>
            <a:ext cx="2501900" cy="1760354"/>
          </a:xfrm>
          <a:prstGeom prst="rect">
            <a:avLst/>
          </a:prstGeom>
          <a:ln>
            <a:noFill/>
          </a:ln>
          <a:extLst>
            <a:ext uri="{53640926-AAD7-44D8-BBD7-CCE9431645EC}">
              <a14:shadowObscured xmlns:a14="http://schemas.microsoft.com/office/drawing/2010/main"/>
            </a:ext>
          </a:extLst>
        </p:spPr>
      </p:pic>
      <p:pic>
        <p:nvPicPr>
          <p:cNvPr id="23" name="Picture 22" descr="A screenshot of a computer&#10;&#10;AI-generated content may be incorrect.">
            <a:extLst>
              <a:ext uri="{FF2B5EF4-FFF2-40B4-BE49-F238E27FC236}">
                <a16:creationId xmlns:a16="http://schemas.microsoft.com/office/drawing/2014/main" id="{B316A8DB-BC76-AC24-377C-F54487A97282}"/>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b="19508"/>
          <a:stretch/>
        </p:blipFill>
        <p:spPr bwMode="auto">
          <a:xfrm>
            <a:off x="8788400" y="4000499"/>
            <a:ext cx="2552700" cy="177799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359359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DB1656-9D34-2F39-3B5D-422220695C15}"/>
              </a:ext>
            </a:extLst>
          </p:cNvPr>
          <p:cNvSpPr txBox="1"/>
          <p:nvPr/>
        </p:nvSpPr>
        <p:spPr>
          <a:xfrm>
            <a:off x="635000" y="317500"/>
            <a:ext cx="10922000" cy="369332"/>
          </a:xfrm>
          <a:prstGeom prst="rect">
            <a:avLst/>
          </a:prstGeom>
          <a:noFill/>
        </p:spPr>
        <p:txBody>
          <a:bodyPr vert="horz" lIns="0" tIns="0" rIns="0" bIns="0" rtlCol="0">
            <a:spAutoFit/>
          </a:bodyPr>
          <a:lstStyle/>
          <a:p>
            <a:r>
              <a:rPr lang="en-IN" sz="2200" dirty="0">
                <a:solidFill>
                  <a:srgbClr val="10B981"/>
                </a:solidFill>
                <a:latin typeface="Segoe MDL2 Assets" panose="050A0102010101010101" pitchFamily="18" charset="0"/>
              </a:rPr>
              <a:t></a:t>
            </a:r>
            <a:r>
              <a:rPr lang="en-IN" dirty="0"/>
              <a:t> </a:t>
            </a:r>
            <a:r>
              <a:rPr lang="en-IN" sz="2400" b="1" dirty="0">
                <a:solidFill>
                  <a:srgbClr val="FFFFFF"/>
                </a:solidFill>
                <a:latin typeface="Poppins" panose="00000500000000000000" pitchFamily="2" charset="0"/>
              </a:rPr>
              <a:t> Results &amp; Achievement</a:t>
            </a:r>
            <a:r>
              <a:rPr lang="en-IN" sz="2400" b="1" dirty="0">
                <a:latin typeface="Poppins" panose="00000500000000000000" pitchFamily="2" charset="0"/>
                <a:cs typeface="Poppins" panose="00000500000000000000" pitchFamily="2" charset="0"/>
              </a:rPr>
              <a:t>s</a:t>
            </a:r>
          </a:p>
        </p:txBody>
      </p:sp>
      <p:sp>
        <p:nvSpPr>
          <p:cNvPr id="3" name="Rectangle 2">
            <a:extLst>
              <a:ext uri="{FF2B5EF4-FFF2-40B4-BE49-F238E27FC236}">
                <a16:creationId xmlns:a16="http://schemas.microsoft.com/office/drawing/2014/main" id="{7084B912-CE10-3F63-BFAD-F5BE845E73CB}"/>
              </a:ext>
            </a:extLst>
          </p:cNvPr>
          <p:cNvSpPr/>
          <p:nvPr/>
        </p:nvSpPr>
        <p:spPr>
          <a:xfrm>
            <a:off x="635000" y="889000"/>
            <a:ext cx="1016000" cy="25400"/>
          </a:xfrm>
          <a:prstGeom prst="rect">
            <a:avLst/>
          </a:prstGeom>
          <a:solidFill>
            <a:srgbClr val="10B98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FCE29A9E-99D5-2E04-279B-43CB743FAA8F}"/>
              </a:ext>
            </a:extLst>
          </p:cNvPr>
          <p:cNvSpPr txBox="1"/>
          <p:nvPr/>
        </p:nvSpPr>
        <p:spPr>
          <a:xfrm>
            <a:off x="762001" y="2044135"/>
            <a:ext cx="5080000" cy="2154436"/>
          </a:xfrm>
          <a:prstGeom prst="rect">
            <a:avLst/>
          </a:prstGeom>
          <a:noFill/>
        </p:spPr>
        <p:txBody>
          <a:bodyPr vert="horz" wrap="square" lIns="0" tIns="0" rIns="0" bIns="0" rtlCol="0" anchor="t">
            <a:spAutoFit/>
          </a:bodyPr>
          <a:lstStyle/>
          <a:p>
            <a:pPr>
              <a:spcAft>
                <a:spcPts val="1200"/>
              </a:spcAft>
            </a:pPr>
            <a:r>
              <a:rPr lang="en-US" sz="2000" b="1" dirty="0">
                <a:solidFill>
                  <a:srgbClr val="10B981"/>
                </a:solidFill>
                <a:latin typeface="Inter"/>
              </a:rPr>
              <a:t>✔</a:t>
            </a:r>
            <a:r>
              <a:rPr lang="en-US" sz="2000" dirty="0">
                <a:solidFill>
                  <a:srgbClr val="FFFFFF"/>
                </a:solidFill>
                <a:latin typeface="Inter"/>
              </a:rPr>
              <a:t>  The website is fully built and working correctly on a local computer.
</a:t>
            </a:r>
            <a:r>
              <a:rPr lang="en-US" sz="2000" dirty="0">
                <a:solidFill>
                  <a:srgbClr val="10B981"/>
                </a:solidFill>
                <a:latin typeface="Inter"/>
              </a:rPr>
              <a:t>✔</a:t>
            </a:r>
            <a:r>
              <a:rPr lang="en-US" sz="2000" dirty="0">
                <a:solidFill>
                  <a:srgbClr val="FFFFFF"/>
                </a:solidFill>
                <a:latin typeface="Inter"/>
              </a:rPr>
              <a:t>  Farmers can easily add their crops to the digital marketplace.
</a:t>
            </a:r>
            <a:r>
              <a:rPr lang="en-US" sz="2000" dirty="0">
                <a:solidFill>
                  <a:srgbClr val="10B981"/>
                </a:solidFill>
                <a:latin typeface="Inter"/>
              </a:rPr>
              <a:t>✔</a:t>
            </a:r>
            <a:r>
              <a:rPr lang="en-US" sz="2000" dirty="0">
                <a:solidFill>
                  <a:srgbClr val="FFFFFF"/>
                </a:solidFill>
                <a:latin typeface="Inter"/>
              </a:rPr>
              <a:t>  Buyers can successfully send price offers and pay the 20% advance amounts.</a:t>
            </a:r>
            <a:endParaRPr lang="en-IN" sz="2000" dirty="0">
              <a:solidFill>
                <a:srgbClr val="FFFFFF"/>
              </a:solidFill>
              <a:latin typeface="Inter"/>
            </a:endParaRPr>
          </a:p>
        </p:txBody>
      </p:sp>
      <p:sp>
        <p:nvSpPr>
          <p:cNvPr id="5" name="TextBox 4">
            <a:extLst>
              <a:ext uri="{FF2B5EF4-FFF2-40B4-BE49-F238E27FC236}">
                <a16:creationId xmlns:a16="http://schemas.microsoft.com/office/drawing/2014/main" id="{871E5BF6-3CA5-8BB8-F4D2-CA15EBA9E107}"/>
              </a:ext>
            </a:extLst>
          </p:cNvPr>
          <p:cNvSpPr txBox="1"/>
          <p:nvPr/>
        </p:nvSpPr>
        <p:spPr>
          <a:xfrm>
            <a:off x="6350000" y="2228801"/>
            <a:ext cx="5207000" cy="1969770"/>
          </a:xfrm>
          <a:prstGeom prst="rect">
            <a:avLst/>
          </a:prstGeom>
          <a:noFill/>
        </p:spPr>
        <p:txBody>
          <a:bodyPr vert="horz" wrap="square" lIns="0" tIns="0" rIns="0" bIns="0" rtlCol="0" anchor="t">
            <a:spAutoFit/>
          </a:bodyPr>
          <a:lstStyle/>
          <a:p>
            <a:pPr>
              <a:spcAft>
                <a:spcPts val="1200"/>
              </a:spcAft>
            </a:pPr>
            <a:r>
              <a:rPr lang="en-US" b="1" dirty="0">
                <a:solidFill>
                  <a:srgbClr val="10B981"/>
                </a:solidFill>
                <a:latin typeface="Inter"/>
              </a:rPr>
              <a:t>✔</a:t>
            </a:r>
            <a:r>
              <a:rPr lang="en-US" dirty="0">
                <a:solidFill>
                  <a:srgbClr val="FFFFFF"/>
                </a:solidFill>
                <a:latin typeface="Inter"/>
              </a:rPr>
              <a:t>  Daily farming checklists are automatically made for the crops.
</a:t>
            </a:r>
            <a:r>
              <a:rPr lang="en-US" dirty="0">
                <a:solidFill>
                  <a:srgbClr val="10B981"/>
                </a:solidFill>
                <a:latin typeface="Inter"/>
              </a:rPr>
              <a:t>✔</a:t>
            </a:r>
            <a:r>
              <a:rPr lang="en-US" dirty="0">
                <a:solidFill>
                  <a:srgbClr val="FFFFFF"/>
                </a:solidFill>
                <a:latin typeface="Inter"/>
              </a:rPr>
              <a:t>  The website installs and opens quickly, just like a mobile app.
</a:t>
            </a:r>
            <a:r>
              <a:rPr lang="en-US" dirty="0">
                <a:solidFill>
                  <a:srgbClr val="10B981"/>
                </a:solidFill>
                <a:latin typeface="Inter"/>
              </a:rPr>
              <a:t>✔</a:t>
            </a:r>
            <a:r>
              <a:rPr lang="en-US" dirty="0">
                <a:solidFill>
                  <a:srgbClr val="FFFFFF"/>
                </a:solidFill>
                <a:latin typeface="Inter"/>
              </a:rPr>
              <a:t>  The database registers pre-booking payments and schedules tasks successfully.</a:t>
            </a:r>
            <a:endParaRPr lang="en-IN" dirty="0">
              <a:solidFill>
                <a:srgbClr val="FFFFFF"/>
              </a:solidFill>
              <a:latin typeface="Inter"/>
            </a:endParaRPr>
          </a:p>
        </p:txBody>
      </p:sp>
    </p:spTree>
    <p:extLst>
      <p:ext uri="{BB962C8B-B14F-4D97-AF65-F5344CB8AC3E}">
        <p14:creationId xmlns:p14="http://schemas.microsoft.com/office/powerpoint/2010/main" val="1037442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E3DE9E-EF6B-6E99-0EC3-8EA00AF96F8A}"/>
              </a:ext>
            </a:extLst>
          </p:cNvPr>
          <p:cNvSpPr txBox="1"/>
          <p:nvPr/>
        </p:nvSpPr>
        <p:spPr>
          <a:xfrm>
            <a:off x="635000" y="317500"/>
            <a:ext cx="10922000" cy="369332"/>
          </a:xfrm>
          <a:prstGeom prst="rect">
            <a:avLst/>
          </a:prstGeom>
          <a:noFill/>
        </p:spPr>
        <p:txBody>
          <a:bodyPr vert="horz" lIns="0" tIns="0" rIns="0" bIns="0" rtlCol="0">
            <a:spAutoFit/>
          </a:bodyPr>
          <a:lstStyle/>
          <a:p>
            <a:r>
              <a:rPr lang="en-IN" sz="2200" dirty="0">
                <a:solidFill>
                  <a:srgbClr val="10B981"/>
                </a:solidFill>
                <a:latin typeface="Segoe MDL2 Assets" panose="050A0102010101010101" pitchFamily="18" charset="0"/>
              </a:rPr>
              <a:t></a:t>
            </a:r>
            <a:r>
              <a:rPr lang="en-IN" dirty="0"/>
              <a:t> </a:t>
            </a:r>
            <a:r>
              <a:rPr lang="en-IN" sz="2400" b="1" dirty="0">
                <a:solidFill>
                  <a:srgbClr val="FFFFFF"/>
                </a:solidFill>
                <a:latin typeface="Poppins" panose="00000500000000000000" pitchFamily="2" charset="0"/>
              </a:rPr>
              <a:t> Advantage</a:t>
            </a:r>
            <a:r>
              <a:rPr lang="en-IN" sz="2400" b="1" dirty="0">
                <a:latin typeface="Poppins" panose="00000500000000000000" pitchFamily="2" charset="0"/>
                <a:cs typeface="Poppins" panose="00000500000000000000" pitchFamily="2" charset="0"/>
              </a:rPr>
              <a:t>s</a:t>
            </a:r>
          </a:p>
        </p:txBody>
      </p:sp>
      <p:sp>
        <p:nvSpPr>
          <p:cNvPr id="3" name="Rectangle 2">
            <a:extLst>
              <a:ext uri="{FF2B5EF4-FFF2-40B4-BE49-F238E27FC236}">
                <a16:creationId xmlns:a16="http://schemas.microsoft.com/office/drawing/2014/main" id="{3A03F2CF-37E9-DF32-9871-51EE638D144C}"/>
              </a:ext>
            </a:extLst>
          </p:cNvPr>
          <p:cNvSpPr/>
          <p:nvPr/>
        </p:nvSpPr>
        <p:spPr>
          <a:xfrm>
            <a:off x="635000" y="889000"/>
            <a:ext cx="1016000" cy="25400"/>
          </a:xfrm>
          <a:prstGeom prst="rect">
            <a:avLst/>
          </a:prstGeom>
          <a:solidFill>
            <a:srgbClr val="10B98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42F4A917-989E-7345-A356-13101A3B2497}"/>
              </a:ext>
            </a:extLst>
          </p:cNvPr>
          <p:cNvSpPr/>
          <p:nvPr/>
        </p:nvSpPr>
        <p:spPr>
          <a:xfrm>
            <a:off x="762000" y="1397000"/>
            <a:ext cx="5207000" cy="2159000"/>
          </a:xfrm>
          <a:prstGeom prst="roundRect">
            <a:avLst>
              <a:gd name="adj" fmla="val 4000"/>
            </a:avLst>
          </a:prstGeom>
          <a:solidFill>
            <a:srgbClr val="0C2820"/>
          </a:solidFill>
          <a:ln w="12700">
            <a:solidFill>
              <a:srgbClr val="145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5D35EBD1-5187-15E4-6FAA-192709A3CE3B}"/>
              </a:ext>
            </a:extLst>
          </p:cNvPr>
          <p:cNvSpPr/>
          <p:nvPr/>
        </p:nvSpPr>
        <p:spPr>
          <a:xfrm>
            <a:off x="965200" y="1600200"/>
            <a:ext cx="304800" cy="304800"/>
          </a:xfrm>
          <a:prstGeom prst="ellipse">
            <a:avLst/>
          </a:prstGeom>
          <a:solidFill>
            <a:srgbClr val="0F37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000">
                <a:solidFill>
                  <a:srgbClr val="10B981"/>
                </a:solidFill>
                <a:latin typeface="Segoe MDL2 Assets" panose="050A0102010101010101" pitchFamily="18" charset="0"/>
              </a:rPr>
              <a:t></a:t>
            </a:r>
          </a:p>
        </p:txBody>
      </p:sp>
      <p:sp>
        <p:nvSpPr>
          <p:cNvPr id="6" name="TextBox 5">
            <a:extLst>
              <a:ext uri="{FF2B5EF4-FFF2-40B4-BE49-F238E27FC236}">
                <a16:creationId xmlns:a16="http://schemas.microsoft.com/office/drawing/2014/main" id="{0BB41CD3-27BF-4467-C626-EE0EA747641C}"/>
              </a:ext>
            </a:extLst>
          </p:cNvPr>
          <p:cNvSpPr txBox="1"/>
          <p:nvPr/>
        </p:nvSpPr>
        <p:spPr>
          <a:xfrm>
            <a:off x="1371600" y="1574800"/>
            <a:ext cx="4394200" cy="1538883"/>
          </a:xfrm>
          <a:prstGeom prst="rect">
            <a:avLst/>
          </a:prstGeom>
          <a:noFill/>
        </p:spPr>
        <p:txBody>
          <a:bodyPr vert="horz" wrap="square" lIns="0" tIns="0" rIns="0" bIns="0" rtlCol="0" anchor="t">
            <a:spAutoFit/>
          </a:bodyPr>
          <a:lstStyle/>
          <a:p>
            <a:pPr>
              <a:spcAft>
                <a:spcPts val="600"/>
              </a:spcAft>
            </a:pPr>
            <a:r>
              <a:rPr lang="en-US" b="1" dirty="0">
                <a:solidFill>
                  <a:srgbClr val="FFFFFF"/>
                </a:solidFill>
                <a:latin typeface="Inter"/>
              </a:rPr>
              <a:t>No Broker Fees</a:t>
            </a:r>
          </a:p>
          <a:p>
            <a:pPr>
              <a:spcAft>
                <a:spcPts val="600"/>
              </a:spcAft>
            </a:pPr>
            <a:r>
              <a:rPr lang="en-US" b="1" dirty="0">
                <a:solidFill>
                  <a:srgbClr val="FFFFFF"/>
                </a:solidFill>
                <a:latin typeface="Inter"/>
              </a:rPr>
              <a:t>
Farmers get 100% of the money and increase their income because there are no middle agents.</a:t>
            </a:r>
            <a:endParaRPr lang="en-IN" b="1" dirty="0">
              <a:solidFill>
                <a:srgbClr val="FFFFFF"/>
              </a:solidFill>
              <a:latin typeface="Inter"/>
            </a:endParaRPr>
          </a:p>
        </p:txBody>
      </p:sp>
      <p:sp>
        <p:nvSpPr>
          <p:cNvPr id="7" name="Rectangle: Rounded Corners 6">
            <a:extLst>
              <a:ext uri="{FF2B5EF4-FFF2-40B4-BE49-F238E27FC236}">
                <a16:creationId xmlns:a16="http://schemas.microsoft.com/office/drawing/2014/main" id="{5584DF3A-2187-343C-ACF1-22ED8078621A}"/>
              </a:ext>
            </a:extLst>
          </p:cNvPr>
          <p:cNvSpPr/>
          <p:nvPr/>
        </p:nvSpPr>
        <p:spPr>
          <a:xfrm>
            <a:off x="6223000" y="1397000"/>
            <a:ext cx="5207000" cy="2159000"/>
          </a:xfrm>
          <a:prstGeom prst="roundRect">
            <a:avLst>
              <a:gd name="adj" fmla="val 4000"/>
            </a:avLst>
          </a:prstGeom>
          <a:solidFill>
            <a:srgbClr val="0C2820"/>
          </a:solidFill>
          <a:ln w="12700">
            <a:solidFill>
              <a:srgbClr val="145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632A6280-160C-977D-A27E-4E4DD6E80249}"/>
              </a:ext>
            </a:extLst>
          </p:cNvPr>
          <p:cNvSpPr/>
          <p:nvPr/>
        </p:nvSpPr>
        <p:spPr>
          <a:xfrm>
            <a:off x="6426200" y="1600200"/>
            <a:ext cx="304800" cy="304800"/>
          </a:xfrm>
          <a:prstGeom prst="ellipse">
            <a:avLst/>
          </a:prstGeom>
          <a:solidFill>
            <a:srgbClr val="0F37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000">
                <a:solidFill>
                  <a:srgbClr val="10B981"/>
                </a:solidFill>
                <a:latin typeface="Segoe MDL2 Assets" panose="050A0102010101010101" pitchFamily="18" charset="0"/>
              </a:rPr>
              <a:t></a:t>
            </a:r>
          </a:p>
        </p:txBody>
      </p:sp>
      <p:sp>
        <p:nvSpPr>
          <p:cNvPr id="9" name="TextBox 8">
            <a:extLst>
              <a:ext uri="{FF2B5EF4-FFF2-40B4-BE49-F238E27FC236}">
                <a16:creationId xmlns:a16="http://schemas.microsoft.com/office/drawing/2014/main" id="{EE00EAF0-F856-CA63-6FF4-D994164B865A}"/>
              </a:ext>
            </a:extLst>
          </p:cNvPr>
          <p:cNvSpPr txBox="1"/>
          <p:nvPr/>
        </p:nvSpPr>
        <p:spPr>
          <a:xfrm>
            <a:off x="6832600" y="1574800"/>
            <a:ext cx="4394200" cy="1261884"/>
          </a:xfrm>
          <a:prstGeom prst="rect">
            <a:avLst/>
          </a:prstGeom>
          <a:noFill/>
        </p:spPr>
        <p:txBody>
          <a:bodyPr vert="horz" wrap="square" lIns="0" tIns="0" rIns="0" bIns="0" rtlCol="0" anchor="t">
            <a:spAutoFit/>
          </a:bodyPr>
          <a:lstStyle/>
          <a:p>
            <a:pPr>
              <a:spcAft>
                <a:spcPts val="600"/>
              </a:spcAft>
            </a:pPr>
            <a:r>
              <a:rPr lang="en-US" b="1" dirty="0">
                <a:solidFill>
                  <a:srgbClr val="FFFFFF"/>
                </a:solidFill>
                <a:latin typeface="Inter"/>
              </a:rPr>
              <a:t>Advance Booking</a:t>
            </a:r>
          </a:p>
          <a:p>
            <a:pPr>
              <a:spcAft>
                <a:spcPts val="600"/>
              </a:spcAft>
            </a:pPr>
            <a:r>
              <a:rPr lang="en-US" b="1" dirty="0">
                <a:solidFill>
                  <a:srgbClr val="FFFFFF"/>
                </a:solidFill>
                <a:latin typeface="Inter"/>
              </a:rPr>
              <a:t>
The 20% booking money gives farmers early cash to buy seeds without taking loans.</a:t>
            </a:r>
            <a:endParaRPr lang="en-IN" b="1" dirty="0">
              <a:solidFill>
                <a:srgbClr val="FFFFFF"/>
              </a:solidFill>
              <a:latin typeface="Inter"/>
            </a:endParaRPr>
          </a:p>
        </p:txBody>
      </p:sp>
      <p:sp>
        <p:nvSpPr>
          <p:cNvPr id="10" name="Rectangle: Rounded Corners 9">
            <a:extLst>
              <a:ext uri="{FF2B5EF4-FFF2-40B4-BE49-F238E27FC236}">
                <a16:creationId xmlns:a16="http://schemas.microsoft.com/office/drawing/2014/main" id="{22EC914D-C19E-BF01-03AA-E4F5812403BD}"/>
              </a:ext>
            </a:extLst>
          </p:cNvPr>
          <p:cNvSpPr/>
          <p:nvPr/>
        </p:nvSpPr>
        <p:spPr>
          <a:xfrm>
            <a:off x="762000" y="3810000"/>
            <a:ext cx="5207000" cy="2159000"/>
          </a:xfrm>
          <a:prstGeom prst="roundRect">
            <a:avLst>
              <a:gd name="adj" fmla="val 4000"/>
            </a:avLst>
          </a:prstGeom>
          <a:solidFill>
            <a:srgbClr val="0C2820"/>
          </a:solidFill>
          <a:ln w="12700">
            <a:solidFill>
              <a:srgbClr val="145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4093918D-8811-C512-2EAD-D4C3AA4F914D}"/>
              </a:ext>
            </a:extLst>
          </p:cNvPr>
          <p:cNvSpPr/>
          <p:nvPr/>
        </p:nvSpPr>
        <p:spPr>
          <a:xfrm>
            <a:off x="965200" y="4013200"/>
            <a:ext cx="304800" cy="304800"/>
          </a:xfrm>
          <a:prstGeom prst="ellipse">
            <a:avLst/>
          </a:prstGeom>
          <a:solidFill>
            <a:srgbClr val="0F37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000">
                <a:solidFill>
                  <a:srgbClr val="10B981"/>
                </a:solidFill>
                <a:latin typeface="Segoe MDL2 Assets" panose="050A0102010101010101" pitchFamily="18" charset="0"/>
              </a:rPr>
              <a:t></a:t>
            </a:r>
          </a:p>
        </p:txBody>
      </p:sp>
      <p:sp>
        <p:nvSpPr>
          <p:cNvPr id="12" name="TextBox 11">
            <a:extLst>
              <a:ext uri="{FF2B5EF4-FFF2-40B4-BE49-F238E27FC236}">
                <a16:creationId xmlns:a16="http://schemas.microsoft.com/office/drawing/2014/main" id="{E1886DC4-CF92-50EA-D8B2-2982D3796DEB}"/>
              </a:ext>
            </a:extLst>
          </p:cNvPr>
          <p:cNvSpPr txBox="1"/>
          <p:nvPr/>
        </p:nvSpPr>
        <p:spPr>
          <a:xfrm>
            <a:off x="1371600" y="3987800"/>
            <a:ext cx="4394200" cy="1261884"/>
          </a:xfrm>
          <a:prstGeom prst="rect">
            <a:avLst/>
          </a:prstGeom>
          <a:noFill/>
        </p:spPr>
        <p:txBody>
          <a:bodyPr vert="horz" wrap="square" lIns="0" tIns="0" rIns="0" bIns="0" rtlCol="0" anchor="t">
            <a:spAutoFit/>
          </a:bodyPr>
          <a:lstStyle/>
          <a:p>
            <a:pPr>
              <a:spcAft>
                <a:spcPts val="600"/>
              </a:spcAft>
            </a:pPr>
            <a:r>
              <a:rPr lang="en-US" b="1" dirty="0">
                <a:solidFill>
                  <a:srgbClr val="FFFFFF"/>
                </a:solidFill>
                <a:latin typeface="Inter"/>
              </a:rPr>
              <a:t>Direct Trust</a:t>
            </a:r>
          </a:p>
          <a:p>
            <a:pPr>
              <a:spcAft>
                <a:spcPts val="600"/>
              </a:spcAft>
            </a:pPr>
            <a:r>
              <a:rPr lang="en-US" b="1" dirty="0">
                <a:solidFill>
                  <a:srgbClr val="FFFFFF"/>
                </a:solidFill>
                <a:latin typeface="Inter"/>
              </a:rPr>
              <a:t>
Direct chat logs and farmer ratings build trust and make buying safe.</a:t>
            </a:r>
            <a:endParaRPr lang="en-IN" b="1" dirty="0">
              <a:solidFill>
                <a:srgbClr val="FFFFFF"/>
              </a:solidFill>
              <a:latin typeface="Inter"/>
            </a:endParaRPr>
          </a:p>
        </p:txBody>
      </p:sp>
      <p:sp>
        <p:nvSpPr>
          <p:cNvPr id="13" name="Rectangle: Rounded Corners 12">
            <a:extLst>
              <a:ext uri="{FF2B5EF4-FFF2-40B4-BE49-F238E27FC236}">
                <a16:creationId xmlns:a16="http://schemas.microsoft.com/office/drawing/2014/main" id="{40D1FB0C-77F4-7F54-AE49-698F8C1B76CD}"/>
              </a:ext>
            </a:extLst>
          </p:cNvPr>
          <p:cNvSpPr/>
          <p:nvPr/>
        </p:nvSpPr>
        <p:spPr>
          <a:xfrm>
            <a:off x="6223000" y="3810000"/>
            <a:ext cx="5207000" cy="2159000"/>
          </a:xfrm>
          <a:prstGeom prst="roundRect">
            <a:avLst>
              <a:gd name="adj" fmla="val 4000"/>
            </a:avLst>
          </a:prstGeom>
          <a:solidFill>
            <a:srgbClr val="0C2820"/>
          </a:solidFill>
          <a:ln w="12700">
            <a:solidFill>
              <a:srgbClr val="145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CE64240E-3FDD-C538-73F6-AA08555CAF53}"/>
              </a:ext>
            </a:extLst>
          </p:cNvPr>
          <p:cNvSpPr/>
          <p:nvPr/>
        </p:nvSpPr>
        <p:spPr>
          <a:xfrm>
            <a:off x="6426200" y="4013200"/>
            <a:ext cx="304800" cy="304800"/>
          </a:xfrm>
          <a:prstGeom prst="ellipse">
            <a:avLst/>
          </a:prstGeom>
          <a:solidFill>
            <a:srgbClr val="0F37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000">
                <a:solidFill>
                  <a:srgbClr val="10B981"/>
                </a:solidFill>
                <a:latin typeface="Segoe MDL2 Assets" panose="050A0102010101010101" pitchFamily="18" charset="0"/>
              </a:rPr>
              <a:t></a:t>
            </a:r>
          </a:p>
        </p:txBody>
      </p:sp>
      <p:sp>
        <p:nvSpPr>
          <p:cNvPr id="15" name="TextBox 14">
            <a:extLst>
              <a:ext uri="{FF2B5EF4-FFF2-40B4-BE49-F238E27FC236}">
                <a16:creationId xmlns:a16="http://schemas.microsoft.com/office/drawing/2014/main" id="{81EB67CD-B4FA-8DB7-07BE-DC7A8AA107A2}"/>
              </a:ext>
            </a:extLst>
          </p:cNvPr>
          <p:cNvSpPr txBox="1"/>
          <p:nvPr/>
        </p:nvSpPr>
        <p:spPr>
          <a:xfrm>
            <a:off x="6832600" y="3987800"/>
            <a:ext cx="4394200" cy="1538883"/>
          </a:xfrm>
          <a:prstGeom prst="rect">
            <a:avLst/>
          </a:prstGeom>
          <a:noFill/>
        </p:spPr>
        <p:txBody>
          <a:bodyPr vert="horz" wrap="square" lIns="0" tIns="0" rIns="0" bIns="0" rtlCol="0" anchor="t">
            <a:spAutoFit/>
          </a:bodyPr>
          <a:lstStyle/>
          <a:p>
            <a:pPr>
              <a:spcAft>
                <a:spcPts val="600"/>
              </a:spcAft>
            </a:pPr>
            <a:r>
              <a:rPr lang="en-US" b="1" dirty="0">
                <a:solidFill>
                  <a:srgbClr val="FFFFFF"/>
                </a:solidFill>
                <a:latin typeface="Inter"/>
              </a:rPr>
              <a:t>Easy Access</a:t>
            </a:r>
          </a:p>
          <a:p>
            <a:pPr>
              <a:spcAft>
                <a:spcPts val="600"/>
              </a:spcAft>
            </a:pPr>
            <a:r>
              <a:rPr lang="en-US" b="1" dirty="0">
                <a:solidFill>
                  <a:srgbClr val="FFFFFF"/>
                </a:solidFill>
                <a:latin typeface="Inter"/>
              </a:rPr>
              <a:t>
Farmers do not need an email; they log in using their phone numbers and local languages.</a:t>
            </a:r>
            <a:endParaRPr lang="en-IN" b="1" dirty="0">
              <a:solidFill>
                <a:srgbClr val="FFFFFF"/>
              </a:solidFill>
              <a:latin typeface="Inter"/>
            </a:endParaRPr>
          </a:p>
        </p:txBody>
      </p:sp>
    </p:spTree>
    <p:extLst>
      <p:ext uri="{BB962C8B-B14F-4D97-AF65-F5344CB8AC3E}">
        <p14:creationId xmlns:p14="http://schemas.microsoft.com/office/powerpoint/2010/main" val="3307759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2010E6-AC81-3C59-11F7-38CB1A8EA2F7}"/>
              </a:ext>
            </a:extLst>
          </p:cNvPr>
          <p:cNvSpPr txBox="1"/>
          <p:nvPr/>
        </p:nvSpPr>
        <p:spPr>
          <a:xfrm>
            <a:off x="635000" y="317500"/>
            <a:ext cx="10922000" cy="369332"/>
          </a:xfrm>
          <a:prstGeom prst="rect">
            <a:avLst/>
          </a:prstGeom>
          <a:noFill/>
        </p:spPr>
        <p:txBody>
          <a:bodyPr vert="horz" lIns="0" tIns="0" rIns="0" bIns="0" rtlCol="0">
            <a:spAutoFit/>
          </a:bodyPr>
          <a:lstStyle/>
          <a:p>
            <a:r>
              <a:rPr lang="en-IN" sz="2200" dirty="0">
                <a:solidFill>
                  <a:srgbClr val="10B981"/>
                </a:solidFill>
                <a:latin typeface="Segoe MDL2 Assets" panose="050A0102010101010101" pitchFamily="18" charset="0"/>
              </a:rPr>
              <a:t></a:t>
            </a:r>
            <a:r>
              <a:rPr lang="en-IN" dirty="0"/>
              <a:t> </a:t>
            </a:r>
            <a:r>
              <a:rPr lang="en-IN" sz="2400" b="1" dirty="0">
                <a:solidFill>
                  <a:srgbClr val="FFFFFF"/>
                </a:solidFill>
                <a:latin typeface="Poppins" panose="00000500000000000000" pitchFamily="2" charset="0"/>
              </a:rPr>
              <a:t> Future Enhancement</a:t>
            </a:r>
            <a:r>
              <a:rPr lang="en-IN" sz="2400" b="1" dirty="0">
                <a:latin typeface="Poppins" panose="00000500000000000000" pitchFamily="2" charset="0"/>
                <a:cs typeface="Poppins" panose="00000500000000000000" pitchFamily="2" charset="0"/>
              </a:rPr>
              <a:t>s</a:t>
            </a:r>
          </a:p>
        </p:txBody>
      </p:sp>
      <p:sp>
        <p:nvSpPr>
          <p:cNvPr id="3" name="Rectangle 2">
            <a:extLst>
              <a:ext uri="{FF2B5EF4-FFF2-40B4-BE49-F238E27FC236}">
                <a16:creationId xmlns:a16="http://schemas.microsoft.com/office/drawing/2014/main" id="{81135546-1B2A-035A-EF95-85BA0E575D06}"/>
              </a:ext>
            </a:extLst>
          </p:cNvPr>
          <p:cNvSpPr/>
          <p:nvPr/>
        </p:nvSpPr>
        <p:spPr>
          <a:xfrm>
            <a:off x="635000" y="889000"/>
            <a:ext cx="1016000" cy="25400"/>
          </a:xfrm>
          <a:prstGeom prst="rect">
            <a:avLst/>
          </a:prstGeom>
          <a:solidFill>
            <a:srgbClr val="10B98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5133607E-5304-ACC8-412F-C1E304D8F8A8}"/>
              </a:ext>
            </a:extLst>
          </p:cNvPr>
          <p:cNvSpPr txBox="1"/>
          <p:nvPr/>
        </p:nvSpPr>
        <p:spPr>
          <a:xfrm>
            <a:off x="762000" y="1460500"/>
            <a:ext cx="5080000" cy="4154984"/>
          </a:xfrm>
          <a:prstGeom prst="rect">
            <a:avLst/>
          </a:prstGeom>
          <a:noFill/>
        </p:spPr>
        <p:txBody>
          <a:bodyPr vert="horz" wrap="square" lIns="0" tIns="0" rIns="0" bIns="0" rtlCol="0" anchor="t">
            <a:spAutoFit/>
          </a:bodyPr>
          <a:lstStyle/>
          <a:p>
            <a:pPr>
              <a:spcAft>
                <a:spcPts val="1200"/>
              </a:spcAft>
            </a:pPr>
            <a:r>
              <a:rPr lang="en-US" sz="2000" b="1" dirty="0">
                <a:solidFill>
                  <a:srgbClr val="10B981"/>
                </a:solidFill>
                <a:latin typeface="Inter"/>
              </a:rPr>
              <a:t>✔</a:t>
            </a:r>
            <a:r>
              <a:rPr lang="en-US" sz="2000" dirty="0">
                <a:solidFill>
                  <a:srgbClr val="FFFFFF"/>
                </a:solidFill>
                <a:latin typeface="Inter"/>
              </a:rPr>
              <a:t>  Make the website work offline so farmers can use it without internet.
</a:t>
            </a:r>
            <a:r>
              <a:rPr lang="en-US" sz="2000" dirty="0">
                <a:solidFill>
                  <a:srgbClr val="10B981"/>
                </a:solidFill>
                <a:latin typeface="Inter"/>
              </a:rPr>
              <a:t>✔</a:t>
            </a:r>
            <a:r>
              <a:rPr lang="en-US" sz="2000" dirty="0">
                <a:solidFill>
                  <a:srgbClr val="FFFFFF"/>
                </a:solidFill>
                <a:latin typeface="Inter"/>
              </a:rPr>
              <a:t>  Let farmers talk to the website using voice controls in their local languages.
</a:t>
            </a:r>
            <a:r>
              <a:rPr lang="en-US" sz="2000" dirty="0">
                <a:solidFill>
                  <a:srgbClr val="10B981"/>
                </a:solidFill>
                <a:latin typeface="Inter"/>
              </a:rPr>
              <a:t>✔</a:t>
            </a:r>
            <a:r>
              <a:rPr lang="en-US" sz="2000" dirty="0">
                <a:solidFill>
                  <a:srgbClr val="FFFFFF"/>
                </a:solidFill>
                <a:latin typeface="Inter"/>
              </a:rPr>
              <a:t>  Connect with local transport trucks so crops can be shipped directly.
</a:t>
            </a:r>
            <a:r>
              <a:rPr lang="en-US" sz="2000" dirty="0">
                <a:solidFill>
                  <a:srgbClr val="10B981"/>
                </a:solidFill>
                <a:latin typeface="Inter"/>
              </a:rPr>
              <a:t>✔</a:t>
            </a:r>
            <a:r>
              <a:rPr lang="en-US" sz="2000" dirty="0">
                <a:solidFill>
                  <a:srgbClr val="FFFFFF"/>
                </a:solidFill>
                <a:latin typeface="Inter"/>
              </a:rPr>
              <a:t>  Integrate local bank accounts and digital wallets for quicker payments.
</a:t>
            </a:r>
            <a:r>
              <a:rPr lang="en-US" sz="2000" dirty="0">
                <a:solidFill>
                  <a:srgbClr val="10B981"/>
                </a:solidFill>
                <a:latin typeface="Inter"/>
              </a:rPr>
              <a:t>✔</a:t>
            </a:r>
            <a:r>
              <a:rPr lang="en-US" sz="2000" dirty="0">
                <a:solidFill>
                  <a:srgbClr val="FFFFFF"/>
                </a:solidFill>
                <a:latin typeface="Inter"/>
              </a:rPr>
              <a:t>  Use AI to scan plant photos and give advice on curing crop diseases.
</a:t>
            </a:r>
            <a:r>
              <a:rPr lang="en-US" sz="2000" dirty="0">
                <a:solidFill>
                  <a:srgbClr val="10B981"/>
                </a:solidFill>
                <a:latin typeface="Inter"/>
              </a:rPr>
              <a:t>✔</a:t>
            </a:r>
            <a:r>
              <a:rPr lang="en-US" sz="2000" dirty="0">
                <a:solidFill>
                  <a:srgbClr val="FFFFFF"/>
                </a:solidFill>
                <a:latin typeface="Inter"/>
              </a:rPr>
              <a:t>  Build dedicated Android and iOS mobile apps.</a:t>
            </a:r>
            <a:endParaRPr lang="en-IN" sz="2000" dirty="0">
              <a:solidFill>
                <a:srgbClr val="FFFFFF"/>
              </a:solidFill>
              <a:latin typeface="Inter"/>
            </a:endParaRPr>
          </a:p>
        </p:txBody>
      </p:sp>
      <p:sp>
        <p:nvSpPr>
          <p:cNvPr id="5" name="Rectangle: Rounded Corners 4">
            <a:extLst>
              <a:ext uri="{FF2B5EF4-FFF2-40B4-BE49-F238E27FC236}">
                <a16:creationId xmlns:a16="http://schemas.microsoft.com/office/drawing/2014/main" id="{54575E67-FFE1-F0BC-F6D1-F99485245182}"/>
              </a:ext>
            </a:extLst>
          </p:cNvPr>
          <p:cNvSpPr/>
          <p:nvPr/>
        </p:nvSpPr>
        <p:spPr>
          <a:xfrm>
            <a:off x="6223000" y="1397000"/>
            <a:ext cx="5207000" cy="4572000"/>
          </a:xfrm>
          <a:prstGeom prst="roundRect">
            <a:avLst>
              <a:gd name="adj" fmla="val 3000"/>
            </a:avLst>
          </a:prstGeom>
          <a:solidFill>
            <a:srgbClr val="050807"/>
          </a:solidFill>
          <a:ln w="19050" cap="sq">
            <a:solidFill>
              <a:srgbClr val="145040"/>
            </a:solidFill>
            <a:prstDash val="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F712D804-81B5-057C-AD93-29D1788FF6EA}"/>
              </a:ext>
            </a:extLst>
          </p:cNvPr>
          <p:cNvSpPr/>
          <p:nvPr/>
        </p:nvSpPr>
        <p:spPr>
          <a:xfrm>
            <a:off x="6413500" y="1587500"/>
            <a:ext cx="4826000" cy="4191000"/>
          </a:xfrm>
          <a:prstGeom prst="roundRect">
            <a:avLst>
              <a:gd name="adj" fmla="val 3000"/>
            </a:avLst>
          </a:prstGeom>
          <a:solidFill>
            <a:srgbClr val="0A0C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0" tIns="254000" rIns="254000" bIns="254000" rtlCol="0" anchor="ctr"/>
          <a:lstStyle/>
          <a:p>
            <a:pPr algn="ctr"/>
            <a:r>
              <a:rPr lang="en-IN" sz="1250">
                <a:solidFill>
                  <a:srgbClr val="64786E"/>
                </a:solidFill>
                <a:latin typeface="Inter"/>
              </a:rPr>
              <a:t>[Add Future Roadmap Graphic]</a:t>
            </a:r>
          </a:p>
        </p:txBody>
      </p:sp>
      <p:pic>
        <p:nvPicPr>
          <p:cNvPr id="8" name="Picture 7">
            <a:extLst>
              <a:ext uri="{FF2B5EF4-FFF2-40B4-BE49-F238E27FC236}">
                <a16:creationId xmlns:a16="http://schemas.microsoft.com/office/drawing/2014/main" id="{789B81EA-807D-8E7D-75DB-AB4F6C2882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0149" y="1468488"/>
            <a:ext cx="5092701" cy="4429023"/>
          </a:xfrm>
          <a:prstGeom prst="rect">
            <a:avLst/>
          </a:prstGeom>
        </p:spPr>
      </p:pic>
    </p:spTree>
    <p:extLst>
      <p:ext uri="{BB962C8B-B14F-4D97-AF65-F5344CB8AC3E}">
        <p14:creationId xmlns:p14="http://schemas.microsoft.com/office/powerpoint/2010/main" val="1337332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8CAE9F-75E1-735C-B211-D23DC36CD84B}"/>
              </a:ext>
            </a:extLst>
          </p:cNvPr>
          <p:cNvSpPr txBox="1"/>
          <p:nvPr/>
        </p:nvSpPr>
        <p:spPr>
          <a:xfrm>
            <a:off x="635000" y="317500"/>
            <a:ext cx="10922000" cy="369332"/>
          </a:xfrm>
          <a:prstGeom prst="rect">
            <a:avLst/>
          </a:prstGeom>
          <a:noFill/>
        </p:spPr>
        <p:txBody>
          <a:bodyPr vert="horz" lIns="0" tIns="0" rIns="0" bIns="0" rtlCol="0">
            <a:spAutoFit/>
          </a:bodyPr>
          <a:lstStyle/>
          <a:p>
            <a:r>
              <a:rPr lang="en-IN" sz="2200" dirty="0">
                <a:solidFill>
                  <a:srgbClr val="10B981"/>
                </a:solidFill>
                <a:latin typeface="Segoe MDL2 Assets" panose="050A0102010101010101" pitchFamily="18" charset="0"/>
              </a:rPr>
              <a:t></a:t>
            </a:r>
            <a:r>
              <a:rPr lang="en-IN" dirty="0"/>
              <a:t> </a:t>
            </a:r>
            <a:r>
              <a:rPr lang="en-IN" sz="2400" b="1" dirty="0">
                <a:solidFill>
                  <a:srgbClr val="FFFFFF"/>
                </a:solidFill>
                <a:latin typeface="Poppins" panose="00000500000000000000" pitchFamily="2" charset="0"/>
              </a:rPr>
              <a:t> Conclusio</a:t>
            </a:r>
            <a:r>
              <a:rPr lang="en-IN" sz="2400" b="1" dirty="0">
                <a:latin typeface="Poppins" panose="00000500000000000000" pitchFamily="2" charset="0"/>
                <a:cs typeface="Poppins" panose="00000500000000000000" pitchFamily="2" charset="0"/>
              </a:rPr>
              <a:t>n</a:t>
            </a:r>
          </a:p>
        </p:txBody>
      </p:sp>
      <p:sp>
        <p:nvSpPr>
          <p:cNvPr id="3" name="Rectangle 2">
            <a:extLst>
              <a:ext uri="{FF2B5EF4-FFF2-40B4-BE49-F238E27FC236}">
                <a16:creationId xmlns:a16="http://schemas.microsoft.com/office/drawing/2014/main" id="{FDA4F25C-8CC2-8BBE-E7F3-73F93B91DCF1}"/>
              </a:ext>
            </a:extLst>
          </p:cNvPr>
          <p:cNvSpPr/>
          <p:nvPr/>
        </p:nvSpPr>
        <p:spPr>
          <a:xfrm>
            <a:off x="635000" y="889000"/>
            <a:ext cx="1016000" cy="25400"/>
          </a:xfrm>
          <a:prstGeom prst="rect">
            <a:avLst/>
          </a:prstGeom>
          <a:solidFill>
            <a:srgbClr val="10B98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5C64B24A-A773-8ED5-431E-A676208BF8A1}"/>
              </a:ext>
            </a:extLst>
          </p:cNvPr>
          <p:cNvSpPr/>
          <p:nvPr/>
        </p:nvSpPr>
        <p:spPr>
          <a:xfrm>
            <a:off x="1016000" y="1700161"/>
            <a:ext cx="10160000" cy="4064000"/>
          </a:xfrm>
          <a:prstGeom prst="roundRect">
            <a:avLst>
              <a:gd name="adj" fmla="val 3000"/>
            </a:avLst>
          </a:prstGeom>
          <a:solidFill>
            <a:srgbClr val="0C2820"/>
          </a:solidFill>
          <a:ln w="12700">
            <a:solidFill>
              <a:srgbClr val="145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1234569F-8282-5653-07F8-3925380BB013}"/>
              </a:ext>
            </a:extLst>
          </p:cNvPr>
          <p:cNvSpPr txBox="1"/>
          <p:nvPr/>
        </p:nvSpPr>
        <p:spPr>
          <a:xfrm>
            <a:off x="1270000" y="2162500"/>
            <a:ext cx="9652000" cy="3139321"/>
          </a:xfrm>
          <a:prstGeom prst="rect">
            <a:avLst/>
          </a:prstGeom>
          <a:noFill/>
        </p:spPr>
        <p:txBody>
          <a:bodyPr vert="horz" wrap="square" lIns="0" tIns="0" rIns="0" bIns="0" rtlCol="0" anchor="t">
            <a:spAutoFit/>
          </a:bodyPr>
          <a:lstStyle/>
          <a:p>
            <a:pPr marL="342900" indent="-342900">
              <a:spcAft>
                <a:spcPts val="2000"/>
              </a:spcAft>
              <a:buFont typeface="Wingdings" panose="05000000000000000000" pitchFamily="2" charset="2"/>
              <a:buChar char="ü"/>
            </a:pPr>
            <a:r>
              <a:rPr lang="en-US" sz="2200" b="1" dirty="0" err="1">
                <a:solidFill>
                  <a:srgbClr val="10B981"/>
                </a:solidFill>
                <a:latin typeface="Poppins" panose="00000500000000000000" pitchFamily="2" charset="0"/>
              </a:rPr>
              <a:t>Farmogram</a:t>
            </a:r>
            <a:r>
              <a:rPr lang="en-US" sz="2200" b="1" dirty="0">
                <a:solidFill>
                  <a:srgbClr val="10B981"/>
                </a:solidFill>
                <a:latin typeface="Poppins" panose="00000500000000000000" pitchFamily="2" charset="0"/>
              </a:rPr>
              <a:t> successfully makes crop selling easy and direct.
It solves the high fees of middle agents, the lack of early money, and the language barrier.
It uses direct selling, advance payments, and a crop task calendar to help farmers.
</a:t>
            </a:r>
            <a:r>
              <a:rPr lang="en-US" sz="2200" b="1" dirty="0" err="1">
                <a:solidFill>
                  <a:srgbClr val="10B981"/>
                </a:solidFill>
                <a:latin typeface="Poppins" panose="00000500000000000000" pitchFamily="2" charset="0"/>
              </a:rPr>
              <a:t>âThe</a:t>
            </a:r>
            <a:r>
              <a:rPr lang="en-US" sz="2200" b="1" dirty="0">
                <a:solidFill>
                  <a:srgbClr val="10B981"/>
                </a:solidFill>
                <a:latin typeface="Poppins" panose="00000500000000000000" pitchFamily="2" charset="0"/>
              </a:rPr>
              <a:t> platform creates a fair and modern digital system so farmers can succeed.</a:t>
            </a:r>
            <a:endParaRPr lang="en-IN" sz="2200" b="1" dirty="0">
              <a:solidFill>
                <a:srgbClr val="10B981"/>
              </a:solidFill>
              <a:latin typeface="Poppins" panose="00000500000000000000" pitchFamily="2" charset="0"/>
            </a:endParaRPr>
          </a:p>
        </p:txBody>
      </p:sp>
    </p:spTree>
    <p:extLst>
      <p:ext uri="{BB962C8B-B14F-4D97-AF65-F5344CB8AC3E}">
        <p14:creationId xmlns:p14="http://schemas.microsoft.com/office/powerpoint/2010/main" val="337086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7FD29D-A805-C239-A9DF-CDE1BABD4B35}"/>
              </a:ext>
            </a:extLst>
          </p:cNvPr>
          <p:cNvSpPr txBox="1"/>
          <p:nvPr/>
        </p:nvSpPr>
        <p:spPr>
          <a:xfrm>
            <a:off x="635000" y="317500"/>
            <a:ext cx="10922000" cy="369332"/>
          </a:xfrm>
          <a:prstGeom prst="rect">
            <a:avLst/>
          </a:prstGeom>
          <a:noFill/>
        </p:spPr>
        <p:txBody>
          <a:bodyPr vert="horz" lIns="0" tIns="0" rIns="0" bIns="0" rtlCol="0">
            <a:spAutoFit/>
          </a:bodyPr>
          <a:lstStyle/>
          <a:p>
            <a:r>
              <a:rPr lang="en-IN" sz="2200" dirty="0">
                <a:solidFill>
                  <a:srgbClr val="10B981"/>
                </a:solidFill>
                <a:latin typeface="Segoe MDL2 Assets" panose="050A0102010101010101" pitchFamily="18" charset="0"/>
              </a:rPr>
              <a:t></a:t>
            </a:r>
            <a:r>
              <a:rPr lang="en-IN" dirty="0"/>
              <a:t> </a:t>
            </a:r>
            <a:r>
              <a:rPr lang="en-IN" sz="2400" b="1" dirty="0">
                <a:solidFill>
                  <a:srgbClr val="FFFFFF"/>
                </a:solidFill>
                <a:latin typeface="Poppins" panose="00000500000000000000" pitchFamily="2" charset="0"/>
              </a:rPr>
              <a:t> References &amp; Tool</a:t>
            </a:r>
            <a:r>
              <a:rPr lang="en-IN" sz="2400" b="1" dirty="0">
                <a:latin typeface="Poppins" panose="00000500000000000000" pitchFamily="2" charset="0"/>
                <a:cs typeface="Poppins" panose="00000500000000000000" pitchFamily="2" charset="0"/>
              </a:rPr>
              <a:t>s</a:t>
            </a:r>
          </a:p>
        </p:txBody>
      </p:sp>
      <p:sp>
        <p:nvSpPr>
          <p:cNvPr id="3" name="Rectangle 2">
            <a:extLst>
              <a:ext uri="{FF2B5EF4-FFF2-40B4-BE49-F238E27FC236}">
                <a16:creationId xmlns:a16="http://schemas.microsoft.com/office/drawing/2014/main" id="{83656AB4-3712-0FFA-22DD-FC18F1C810B5}"/>
              </a:ext>
            </a:extLst>
          </p:cNvPr>
          <p:cNvSpPr/>
          <p:nvPr/>
        </p:nvSpPr>
        <p:spPr>
          <a:xfrm>
            <a:off x="635000" y="889000"/>
            <a:ext cx="1016000" cy="25400"/>
          </a:xfrm>
          <a:prstGeom prst="rect">
            <a:avLst/>
          </a:prstGeom>
          <a:solidFill>
            <a:srgbClr val="10B98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A8802253-BD6C-A17E-E08C-C36B0617DFDC}"/>
              </a:ext>
            </a:extLst>
          </p:cNvPr>
          <p:cNvSpPr txBox="1"/>
          <p:nvPr/>
        </p:nvSpPr>
        <p:spPr>
          <a:xfrm>
            <a:off x="762000" y="1460500"/>
            <a:ext cx="5080000" cy="4462760"/>
          </a:xfrm>
          <a:prstGeom prst="rect">
            <a:avLst/>
          </a:prstGeom>
          <a:noFill/>
        </p:spPr>
        <p:txBody>
          <a:bodyPr vert="horz" wrap="square" lIns="0" tIns="0" rIns="0" bIns="0" rtlCol="0" anchor="t">
            <a:spAutoFit/>
          </a:bodyPr>
          <a:lstStyle/>
          <a:p>
            <a:pPr>
              <a:spcAft>
                <a:spcPts val="1200"/>
              </a:spcAft>
            </a:pPr>
            <a:r>
              <a:rPr lang="en-IN" sz="2000" b="1" dirty="0">
                <a:solidFill>
                  <a:srgbClr val="10B981"/>
                </a:solidFill>
                <a:latin typeface="Inter"/>
              </a:rPr>
              <a:t>✔</a:t>
            </a:r>
            <a:r>
              <a:rPr lang="en-IN" sz="2000" dirty="0">
                <a:solidFill>
                  <a:srgbClr val="FFFFFF"/>
                </a:solidFill>
                <a:latin typeface="Inter"/>
              </a:rPr>
              <a:t>  Payments: </a:t>
            </a:r>
            <a:r>
              <a:rPr lang="en-IN" sz="2000" dirty="0" err="1">
                <a:solidFill>
                  <a:srgbClr val="FFFFFF"/>
                </a:solidFill>
                <a:latin typeface="Inter"/>
              </a:rPr>
              <a:t>Razorpay</a:t>
            </a:r>
            <a:r>
              <a:rPr lang="en-IN" sz="2000" dirty="0">
                <a:solidFill>
                  <a:srgbClr val="FFFFFF"/>
                </a:solidFill>
                <a:latin typeface="Inter"/>
              </a:rPr>
              <a:t> is used for secure online payments.
</a:t>
            </a:r>
            <a:r>
              <a:rPr lang="en-IN" sz="2000" dirty="0">
                <a:solidFill>
                  <a:srgbClr val="10B981"/>
                </a:solidFill>
                <a:latin typeface="Inter"/>
              </a:rPr>
              <a:t>✔</a:t>
            </a:r>
            <a:r>
              <a:rPr lang="en-IN" sz="2000" dirty="0">
                <a:solidFill>
                  <a:srgbClr val="FFFFFF"/>
                </a:solidFill>
                <a:latin typeface="Inter"/>
              </a:rPr>
              <a:t>  Data: </a:t>
            </a:r>
            <a:r>
              <a:rPr lang="en-IN" sz="2000" dirty="0" err="1">
                <a:solidFill>
                  <a:srgbClr val="FFFFFF"/>
                </a:solidFill>
                <a:latin typeface="Inter"/>
              </a:rPr>
              <a:t>OpenWeather</a:t>
            </a:r>
            <a:r>
              <a:rPr lang="en-IN" sz="2000" dirty="0">
                <a:solidFill>
                  <a:srgbClr val="FFFFFF"/>
                </a:solidFill>
                <a:latin typeface="Inter"/>
              </a:rPr>
              <a:t> provides weather forecasting data.
</a:t>
            </a:r>
            <a:r>
              <a:rPr lang="en-IN" sz="2000" dirty="0">
                <a:solidFill>
                  <a:srgbClr val="10B981"/>
                </a:solidFill>
                <a:latin typeface="Inter"/>
              </a:rPr>
              <a:t>✔</a:t>
            </a:r>
            <a:r>
              <a:rPr lang="en-IN" sz="2000" dirty="0">
                <a:solidFill>
                  <a:srgbClr val="FFFFFF"/>
                </a:solidFill>
                <a:latin typeface="Inter"/>
              </a:rPr>
              <a:t>  AI Tools: Google Gemini AI powers the smart voice assistant.
</a:t>
            </a:r>
            <a:r>
              <a:rPr lang="en-IN" sz="2000" dirty="0">
                <a:solidFill>
                  <a:srgbClr val="10B981"/>
                </a:solidFill>
                <a:latin typeface="Inter"/>
              </a:rPr>
              <a:t>✔</a:t>
            </a:r>
            <a:r>
              <a:rPr lang="en-IN" sz="2000" dirty="0">
                <a:solidFill>
                  <a:srgbClr val="FFFFFF"/>
                </a:solidFill>
                <a:latin typeface="Inter"/>
              </a:rPr>
              <a:t>  Hosting: </a:t>
            </a:r>
            <a:r>
              <a:rPr lang="en-IN" sz="2000" dirty="0" err="1">
                <a:solidFill>
                  <a:srgbClr val="FFFFFF"/>
                </a:solidFill>
                <a:latin typeface="Inter"/>
              </a:rPr>
              <a:t>InfinityFree</a:t>
            </a:r>
            <a:r>
              <a:rPr lang="en-IN" sz="2000" dirty="0">
                <a:solidFill>
                  <a:srgbClr val="FFFFFF"/>
                </a:solidFill>
                <a:latin typeface="Inter"/>
              </a:rPr>
              <a:t> is used for online web hosting.
</a:t>
            </a:r>
            <a:r>
              <a:rPr lang="en-IN" sz="2000" dirty="0">
                <a:solidFill>
                  <a:srgbClr val="10B981"/>
                </a:solidFill>
                <a:latin typeface="Inter"/>
              </a:rPr>
              <a:t>✔</a:t>
            </a:r>
            <a:r>
              <a:rPr lang="en-IN" sz="2000" dirty="0">
                <a:solidFill>
                  <a:srgbClr val="FFFFFF"/>
                </a:solidFill>
                <a:latin typeface="Inter"/>
              </a:rPr>
              <a:t>  Design: Draw.io software was used to draw the system diagrams.
</a:t>
            </a:r>
            <a:r>
              <a:rPr lang="en-IN" sz="2000" dirty="0">
                <a:solidFill>
                  <a:srgbClr val="10B981"/>
                </a:solidFill>
                <a:latin typeface="Inter"/>
              </a:rPr>
              <a:t>✔</a:t>
            </a:r>
            <a:r>
              <a:rPr lang="en-IN" sz="2000" dirty="0">
                <a:solidFill>
                  <a:srgbClr val="FFFFFF"/>
                </a:solidFill>
                <a:latin typeface="Inter"/>
              </a:rPr>
              <a:t>  Learning: W3Schools provided online guides for PHP and SQL.</a:t>
            </a:r>
          </a:p>
        </p:txBody>
      </p:sp>
      <p:sp>
        <p:nvSpPr>
          <p:cNvPr id="5" name="Rectangle: Rounded Corners 4">
            <a:extLst>
              <a:ext uri="{FF2B5EF4-FFF2-40B4-BE49-F238E27FC236}">
                <a16:creationId xmlns:a16="http://schemas.microsoft.com/office/drawing/2014/main" id="{737F5486-7551-ADE2-4253-9DD0A1876D04}"/>
              </a:ext>
            </a:extLst>
          </p:cNvPr>
          <p:cNvSpPr/>
          <p:nvPr/>
        </p:nvSpPr>
        <p:spPr>
          <a:xfrm>
            <a:off x="6223000" y="1397000"/>
            <a:ext cx="2540000" cy="2159000"/>
          </a:xfrm>
          <a:prstGeom prst="roundRect">
            <a:avLst>
              <a:gd name="adj" fmla="val 4000"/>
            </a:avLst>
          </a:prstGeom>
          <a:solidFill>
            <a:srgbClr val="0C2820"/>
          </a:solidFill>
          <a:ln w="12700">
            <a:solidFill>
              <a:srgbClr val="145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267C073E-D9D9-F41C-3559-9F862543E4D7}"/>
              </a:ext>
            </a:extLst>
          </p:cNvPr>
          <p:cNvSpPr/>
          <p:nvPr/>
        </p:nvSpPr>
        <p:spPr>
          <a:xfrm>
            <a:off x="6426200" y="1600200"/>
            <a:ext cx="304800" cy="304800"/>
          </a:xfrm>
          <a:prstGeom prst="ellipse">
            <a:avLst/>
          </a:prstGeom>
          <a:solidFill>
            <a:srgbClr val="0F37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000">
                <a:solidFill>
                  <a:srgbClr val="10B981"/>
                </a:solidFill>
                <a:latin typeface="Segoe MDL2 Assets" panose="050A0102010101010101" pitchFamily="18" charset="0"/>
              </a:rPr>
              <a:t></a:t>
            </a:r>
          </a:p>
        </p:txBody>
      </p:sp>
      <p:sp>
        <p:nvSpPr>
          <p:cNvPr id="7" name="TextBox 6">
            <a:extLst>
              <a:ext uri="{FF2B5EF4-FFF2-40B4-BE49-F238E27FC236}">
                <a16:creationId xmlns:a16="http://schemas.microsoft.com/office/drawing/2014/main" id="{4C20CB25-A1B4-3C47-48B5-C10C66DA1E3D}"/>
              </a:ext>
            </a:extLst>
          </p:cNvPr>
          <p:cNvSpPr txBox="1"/>
          <p:nvPr/>
        </p:nvSpPr>
        <p:spPr>
          <a:xfrm>
            <a:off x="6832600" y="1574800"/>
            <a:ext cx="1727200" cy="1184940"/>
          </a:xfrm>
          <a:prstGeom prst="rect">
            <a:avLst/>
          </a:prstGeom>
          <a:noFill/>
        </p:spPr>
        <p:txBody>
          <a:bodyPr vert="horz" wrap="square" lIns="0" tIns="0" rIns="0" bIns="0" rtlCol="0" anchor="t">
            <a:spAutoFit/>
          </a:bodyPr>
          <a:lstStyle/>
          <a:p>
            <a:pPr>
              <a:spcAft>
                <a:spcPts val="600"/>
              </a:spcAft>
            </a:pPr>
            <a:r>
              <a:rPr lang="en-US" b="1" dirty="0">
                <a:solidFill>
                  <a:srgbClr val="FFFFFF"/>
                </a:solidFill>
                <a:latin typeface="Inter"/>
              </a:rPr>
              <a:t>PHP Server
Backend logic and session management.</a:t>
            </a:r>
            <a:endParaRPr lang="en-IN" b="1" dirty="0">
              <a:solidFill>
                <a:srgbClr val="FFFFFF"/>
              </a:solidFill>
              <a:latin typeface="Inter"/>
            </a:endParaRPr>
          </a:p>
        </p:txBody>
      </p:sp>
      <p:sp>
        <p:nvSpPr>
          <p:cNvPr id="8" name="Rectangle: Rounded Corners 7">
            <a:extLst>
              <a:ext uri="{FF2B5EF4-FFF2-40B4-BE49-F238E27FC236}">
                <a16:creationId xmlns:a16="http://schemas.microsoft.com/office/drawing/2014/main" id="{8E981D05-B871-154D-13F7-2304EAEFBF4A}"/>
              </a:ext>
            </a:extLst>
          </p:cNvPr>
          <p:cNvSpPr/>
          <p:nvPr/>
        </p:nvSpPr>
        <p:spPr>
          <a:xfrm>
            <a:off x="8890000" y="1397000"/>
            <a:ext cx="2540000" cy="2159000"/>
          </a:xfrm>
          <a:prstGeom prst="roundRect">
            <a:avLst>
              <a:gd name="adj" fmla="val 4000"/>
            </a:avLst>
          </a:prstGeom>
          <a:solidFill>
            <a:srgbClr val="0C2820"/>
          </a:solidFill>
          <a:ln w="12700">
            <a:solidFill>
              <a:srgbClr val="145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FA8D9133-C2E2-50D1-E137-C2B3C0A8B93C}"/>
              </a:ext>
            </a:extLst>
          </p:cNvPr>
          <p:cNvSpPr/>
          <p:nvPr/>
        </p:nvSpPr>
        <p:spPr>
          <a:xfrm>
            <a:off x="9093200" y="1600200"/>
            <a:ext cx="304800" cy="304800"/>
          </a:xfrm>
          <a:prstGeom prst="ellipse">
            <a:avLst/>
          </a:prstGeom>
          <a:solidFill>
            <a:srgbClr val="0F37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000">
                <a:solidFill>
                  <a:srgbClr val="10B981"/>
                </a:solidFill>
                <a:latin typeface="Segoe MDL2 Assets" panose="050A0102010101010101" pitchFamily="18" charset="0"/>
              </a:rPr>
              <a:t></a:t>
            </a:r>
          </a:p>
        </p:txBody>
      </p:sp>
      <p:sp>
        <p:nvSpPr>
          <p:cNvPr id="10" name="TextBox 9">
            <a:extLst>
              <a:ext uri="{FF2B5EF4-FFF2-40B4-BE49-F238E27FC236}">
                <a16:creationId xmlns:a16="http://schemas.microsoft.com/office/drawing/2014/main" id="{1D9BFFD6-A5F2-AB1B-841D-8947CED459AE}"/>
              </a:ext>
            </a:extLst>
          </p:cNvPr>
          <p:cNvSpPr txBox="1"/>
          <p:nvPr/>
        </p:nvSpPr>
        <p:spPr>
          <a:xfrm>
            <a:off x="9499600" y="1574800"/>
            <a:ext cx="1727200" cy="907941"/>
          </a:xfrm>
          <a:prstGeom prst="rect">
            <a:avLst/>
          </a:prstGeom>
          <a:noFill/>
        </p:spPr>
        <p:txBody>
          <a:bodyPr vert="horz" wrap="square" lIns="0" tIns="0" rIns="0" bIns="0" rtlCol="0" anchor="t">
            <a:spAutoFit/>
          </a:bodyPr>
          <a:lstStyle/>
          <a:p>
            <a:pPr>
              <a:spcAft>
                <a:spcPts val="600"/>
              </a:spcAft>
            </a:pPr>
            <a:r>
              <a:rPr lang="en-US" b="1" dirty="0">
                <a:solidFill>
                  <a:srgbClr val="FFFFFF"/>
                </a:solidFill>
                <a:latin typeface="Inter"/>
              </a:rPr>
              <a:t>MySQL Database
Storing user, crop, and order details.</a:t>
            </a:r>
            <a:endParaRPr lang="en-IN" b="1" dirty="0">
              <a:solidFill>
                <a:srgbClr val="FFFFFF"/>
              </a:solidFill>
              <a:latin typeface="Inter"/>
            </a:endParaRPr>
          </a:p>
        </p:txBody>
      </p:sp>
      <p:sp>
        <p:nvSpPr>
          <p:cNvPr id="11" name="Rectangle: Rounded Corners 10">
            <a:extLst>
              <a:ext uri="{FF2B5EF4-FFF2-40B4-BE49-F238E27FC236}">
                <a16:creationId xmlns:a16="http://schemas.microsoft.com/office/drawing/2014/main" id="{A76B340C-0F67-CE87-3E57-FE18427FF130}"/>
              </a:ext>
            </a:extLst>
          </p:cNvPr>
          <p:cNvSpPr/>
          <p:nvPr/>
        </p:nvSpPr>
        <p:spPr>
          <a:xfrm>
            <a:off x="6223000" y="3810000"/>
            <a:ext cx="2540000" cy="2159000"/>
          </a:xfrm>
          <a:prstGeom prst="roundRect">
            <a:avLst>
              <a:gd name="adj" fmla="val 4000"/>
            </a:avLst>
          </a:prstGeom>
          <a:solidFill>
            <a:srgbClr val="0C2820"/>
          </a:solidFill>
          <a:ln w="12700">
            <a:solidFill>
              <a:srgbClr val="145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41979131-308A-DF9F-95EB-7B5A8B9B2627}"/>
              </a:ext>
            </a:extLst>
          </p:cNvPr>
          <p:cNvSpPr/>
          <p:nvPr/>
        </p:nvSpPr>
        <p:spPr>
          <a:xfrm>
            <a:off x="6426200" y="4013200"/>
            <a:ext cx="304800" cy="304800"/>
          </a:xfrm>
          <a:prstGeom prst="ellipse">
            <a:avLst/>
          </a:prstGeom>
          <a:solidFill>
            <a:srgbClr val="0F37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000">
                <a:solidFill>
                  <a:srgbClr val="10B981"/>
                </a:solidFill>
                <a:latin typeface="Segoe MDL2 Assets" panose="050A0102010101010101" pitchFamily="18" charset="0"/>
              </a:rPr>
              <a:t></a:t>
            </a:r>
          </a:p>
        </p:txBody>
      </p:sp>
      <p:sp>
        <p:nvSpPr>
          <p:cNvPr id="13" name="TextBox 12">
            <a:extLst>
              <a:ext uri="{FF2B5EF4-FFF2-40B4-BE49-F238E27FC236}">
                <a16:creationId xmlns:a16="http://schemas.microsoft.com/office/drawing/2014/main" id="{79057799-8C39-EF98-837E-6E9176908F10}"/>
              </a:ext>
            </a:extLst>
          </p:cNvPr>
          <p:cNvSpPr txBox="1"/>
          <p:nvPr/>
        </p:nvSpPr>
        <p:spPr>
          <a:xfrm>
            <a:off x="6832600" y="3987800"/>
            <a:ext cx="1727200" cy="1184940"/>
          </a:xfrm>
          <a:prstGeom prst="rect">
            <a:avLst/>
          </a:prstGeom>
          <a:noFill/>
        </p:spPr>
        <p:txBody>
          <a:bodyPr vert="horz" wrap="square" lIns="0" tIns="0" rIns="0" bIns="0" rtlCol="0" anchor="t">
            <a:spAutoFit/>
          </a:bodyPr>
          <a:lstStyle/>
          <a:p>
            <a:pPr>
              <a:spcAft>
                <a:spcPts val="600"/>
              </a:spcAft>
            </a:pPr>
            <a:r>
              <a:rPr lang="en-US" b="1" dirty="0">
                <a:solidFill>
                  <a:srgbClr val="FFFFFF"/>
                </a:solidFill>
                <a:latin typeface="Inter"/>
              </a:rPr>
              <a:t>HTML5 Pages
Markup and page structure for PWA.</a:t>
            </a:r>
            <a:endParaRPr lang="en-IN" b="1" dirty="0">
              <a:solidFill>
                <a:srgbClr val="FFFFFF"/>
              </a:solidFill>
              <a:latin typeface="Inter"/>
            </a:endParaRPr>
          </a:p>
        </p:txBody>
      </p:sp>
      <p:sp>
        <p:nvSpPr>
          <p:cNvPr id="14" name="Rectangle: Rounded Corners 13">
            <a:extLst>
              <a:ext uri="{FF2B5EF4-FFF2-40B4-BE49-F238E27FC236}">
                <a16:creationId xmlns:a16="http://schemas.microsoft.com/office/drawing/2014/main" id="{09C39C6B-372F-1586-D0BD-CF754EF86F1F}"/>
              </a:ext>
            </a:extLst>
          </p:cNvPr>
          <p:cNvSpPr/>
          <p:nvPr/>
        </p:nvSpPr>
        <p:spPr>
          <a:xfrm>
            <a:off x="8890000" y="3810000"/>
            <a:ext cx="2540000" cy="2159000"/>
          </a:xfrm>
          <a:prstGeom prst="roundRect">
            <a:avLst>
              <a:gd name="adj" fmla="val 4000"/>
            </a:avLst>
          </a:prstGeom>
          <a:solidFill>
            <a:srgbClr val="0C2820"/>
          </a:solidFill>
          <a:ln w="12700">
            <a:solidFill>
              <a:srgbClr val="145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8E6A7170-B139-8AEB-108F-F9477E267D01}"/>
              </a:ext>
            </a:extLst>
          </p:cNvPr>
          <p:cNvSpPr/>
          <p:nvPr/>
        </p:nvSpPr>
        <p:spPr>
          <a:xfrm>
            <a:off x="9093200" y="4013200"/>
            <a:ext cx="304800" cy="304800"/>
          </a:xfrm>
          <a:prstGeom prst="ellipse">
            <a:avLst/>
          </a:prstGeom>
          <a:solidFill>
            <a:srgbClr val="0F37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IN" sz="1000">
                <a:solidFill>
                  <a:srgbClr val="10B981"/>
                </a:solidFill>
                <a:latin typeface="Segoe MDL2 Assets" panose="050A0102010101010101" pitchFamily="18" charset="0"/>
              </a:rPr>
              <a:t></a:t>
            </a:r>
          </a:p>
        </p:txBody>
      </p:sp>
      <p:sp>
        <p:nvSpPr>
          <p:cNvPr id="16" name="TextBox 15">
            <a:extLst>
              <a:ext uri="{FF2B5EF4-FFF2-40B4-BE49-F238E27FC236}">
                <a16:creationId xmlns:a16="http://schemas.microsoft.com/office/drawing/2014/main" id="{80DE1264-89FA-5AF5-662A-0E1D030F5B95}"/>
              </a:ext>
            </a:extLst>
          </p:cNvPr>
          <p:cNvSpPr txBox="1"/>
          <p:nvPr/>
        </p:nvSpPr>
        <p:spPr>
          <a:xfrm>
            <a:off x="9499600" y="3987800"/>
            <a:ext cx="1727200" cy="1461939"/>
          </a:xfrm>
          <a:prstGeom prst="rect">
            <a:avLst/>
          </a:prstGeom>
          <a:noFill/>
        </p:spPr>
        <p:txBody>
          <a:bodyPr vert="horz" wrap="square" lIns="0" tIns="0" rIns="0" bIns="0" rtlCol="0" anchor="t">
            <a:spAutoFit/>
          </a:bodyPr>
          <a:lstStyle/>
          <a:p>
            <a:pPr>
              <a:spcAft>
                <a:spcPts val="600"/>
              </a:spcAft>
            </a:pPr>
            <a:r>
              <a:rPr lang="en-US" b="1" dirty="0">
                <a:solidFill>
                  <a:srgbClr val="FFFFFF"/>
                </a:solidFill>
                <a:latin typeface="Inter"/>
              </a:rPr>
              <a:t>CSS3 Styling
Responsive layouts and modern typography.</a:t>
            </a:r>
            <a:endParaRPr lang="en-IN" b="1" dirty="0">
              <a:solidFill>
                <a:srgbClr val="FFFFFF"/>
              </a:solidFill>
              <a:latin typeface="Inter"/>
            </a:endParaRPr>
          </a:p>
        </p:txBody>
      </p:sp>
    </p:spTree>
    <p:extLst>
      <p:ext uri="{BB962C8B-B14F-4D97-AF65-F5344CB8AC3E}">
        <p14:creationId xmlns:p14="http://schemas.microsoft.com/office/powerpoint/2010/main" val="2908544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0D3E3A-6862-DB41-BD85-CA51387B1776}"/>
              </a:ext>
            </a:extLst>
          </p:cNvPr>
          <p:cNvSpPr txBox="1"/>
          <p:nvPr/>
        </p:nvSpPr>
        <p:spPr>
          <a:xfrm>
            <a:off x="1016000" y="1016000"/>
            <a:ext cx="10160000" cy="1077218"/>
          </a:xfrm>
          <a:prstGeom prst="rect">
            <a:avLst/>
          </a:prstGeom>
          <a:noFill/>
        </p:spPr>
        <p:txBody>
          <a:bodyPr vert="horz" rtlCol="0">
            <a:spAutoFit/>
          </a:bodyPr>
          <a:lstStyle/>
          <a:p>
            <a:pPr algn="ctr"/>
            <a:r>
              <a:rPr lang="en-IN" sz="6400" b="1">
                <a:solidFill>
                  <a:srgbClr val="10B981"/>
                </a:solidFill>
                <a:latin typeface="Poppins" panose="00000500000000000000" pitchFamily="2" charset="0"/>
              </a:rPr>
              <a:t>Thank You!</a:t>
            </a:r>
          </a:p>
        </p:txBody>
      </p:sp>
      <p:sp>
        <p:nvSpPr>
          <p:cNvPr id="3" name="TextBox 2">
            <a:extLst>
              <a:ext uri="{FF2B5EF4-FFF2-40B4-BE49-F238E27FC236}">
                <a16:creationId xmlns:a16="http://schemas.microsoft.com/office/drawing/2014/main" id="{21858E8E-EBD2-5099-562A-A73D8785D086}"/>
              </a:ext>
            </a:extLst>
          </p:cNvPr>
          <p:cNvSpPr txBox="1"/>
          <p:nvPr/>
        </p:nvSpPr>
        <p:spPr>
          <a:xfrm>
            <a:off x="1016000" y="2095500"/>
            <a:ext cx="10160000" cy="338554"/>
          </a:xfrm>
          <a:prstGeom prst="rect">
            <a:avLst/>
          </a:prstGeom>
          <a:noFill/>
        </p:spPr>
        <p:txBody>
          <a:bodyPr vert="horz" rtlCol="0">
            <a:spAutoFit/>
          </a:bodyPr>
          <a:lstStyle/>
          <a:p>
            <a:pPr algn="ctr"/>
            <a:r>
              <a:rPr lang="en-IN" sz="1600" b="1">
                <a:solidFill>
                  <a:srgbClr val="91AAA0"/>
                </a:solidFill>
                <a:latin typeface="Inter"/>
              </a:rPr>
              <a:t>QUESTIONS &amp; ANSWERS</a:t>
            </a:r>
          </a:p>
        </p:txBody>
      </p:sp>
      <p:sp>
        <p:nvSpPr>
          <p:cNvPr id="4" name="Rectangle: Rounded Corners 3">
            <a:extLst>
              <a:ext uri="{FF2B5EF4-FFF2-40B4-BE49-F238E27FC236}">
                <a16:creationId xmlns:a16="http://schemas.microsoft.com/office/drawing/2014/main" id="{887B2E71-1CF3-949D-C7B3-C48B400EE15B}"/>
              </a:ext>
            </a:extLst>
          </p:cNvPr>
          <p:cNvSpPr/>
          <p:nvPr/>
        </p:nvSpPr>
        <p:spPr>
          <a:xfrm>
            <a:off x="3556000" y="3048000"/>
            <a:ext cx="5080000" cy="1397000"/>
          </a:xfrm>
          <a:prstGeom prst="roundRect">
            <a:avLst>
              <a:gd name="adj" fmla="val 8000"/>
            </a:avLst>
          </a:prstGeom>
          <a:solidFill>
            <a:srgbClr val="0C2820"/>
          </a:solidFill>
          <a:ln w="1905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lIns="127000" tIns="190500" rIns="127000" bIns="190500" rtlCol="0" anchor="ctr"/>
          <a:lstStyle/>
          <a:p>
            <a:pPr algn="ctr">
              <a:spcAft>
                <a:spcPts val="800"/>
              </a:spcAft>
            </a:pPr>
            <a:r>
              <a:rPr lang="en-US" b="1" dirty="0">
                <a:solidFill>
                  <a:srgbClr val="FFFFFF"/>
                </a:solidFill>
                <a:latin typeface="Inter"/>
              </a:rPr>
              <a:t>Website: farmogram.gamer.gd
Email: team@farmogram.in</a:t>
            </a:r>
            <a:endParaRPr lang="en-IN" b="1" dirty="0">
              <a:solidFill>
                <a:srgbClr val="FFFFFF"/>
              </a:solidFill>
              <a:latin typeface="Inter"/>
            </a:endParaRPr>
          </a:p>
        </p:txBody>
      </p:sp>
      <p:sp>
        <p:nvSpPr>
          <p:cNvPr id="5" name="TextBox 4">
            <a:extLst>
              <a:ext uri="{FF2B5EF4-FFF2-40B4-BE49-F238E27FC236}">
                <a16:creationId xmlns:a16="http://schemas.microsoft.com/office/drawing/2014/main" id="{CC01024A-AE71-4CE9-C185-85FF6C1BD6B8}"/>
              </a:ext>
            </a:extLst>
          </p:cNvPr>
          <p:cNvSpPr txBox="1"/>
          <p:nvPr/>
        </p:nvSpPr>
        <p:spPr>
          <a:xfrm>
            <a:off x="1016000" y="4889500"/>
            <a:ext cx="10160000" cy="553998"/>
          </a:xfrm>
          <a:prstGeom prst="rect">
            <a:avLst/>
          </a:prstGeom>
          <a:noFill/>
        </p:spPr>
        <p:txBody>
          <a:bodyPr vert="horz" wrap="square" lIns="0" tIns="0" rIns="0" bIns="0" rtlCol="0">
            <a:spAutoFit/>
          </a:bodyPr>
          <a:lstStyle/>
          <a:p>
            <a:pPr algn="ctr"/>
            <a:r>
              <a:rPr lang="en-US" dirty="0">
                <a:solidFill>
                  <a:srgbClr val="91AAA0"/>
                </a:solidFill>
                <a:latin typeface="Inter"/>
              </a:rPr>
              <a:t>Prajwal Gouda (Reg: U02LT23S0007)
Bachelor of Computer Applications, Himalaya BCA College</a:t>
            </a:r>
            <a:endParaRPr lang="en-IN" dirty="0">
              <a:solidFill>
                <a:srgbClr val="91AAA0"/>
              </a:solidFill>
              <a:latin typeface="Inter"/>
            </a:endParaRPr>
          </a:p>
        </p:txBody>
      </p:sp>
    </p:spTree>
    <p:extLst>
      <p:ext uri="{BB962C8B-B14F-4D97-AF65-F5344CB8AC3E}">
        <p14:creationId xmlns:p14="http://schemas.microsoft.com/office/powerpoint/2010/main" val="224193693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C0A3E416-13B0-4CFE-8B85-8989D8AEFB51}"/>
    </a:ext>
  </a:extLst>
</a:theme>
</file>

<file path=docProps/app.xml><?xml version="1.0" encoding="utf-8"?>
<Properties xmlns="http://schemas.openxmlformats.org/officeDocument/2006/extended-properties" xmlns:vt="http://schemas.openxmlformats.org/officeDocument/2006/docPropsVTypes">
  <Template>Office Theme</Template>
  <TotalTime>88</TotalTime>
  <Words>1147</Words>
  <Application>Microsoft Office PowerPoint</Application>
  <PresentationFormat>Widescreen</PresentationFormat>
  <Paragraphs>82</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Aptos</vt:lpstr>
      <vt:lpstr>Aptos Display</vt:lpstr>
      <vt:lpstr>Arial</vt:lpstr>
      <vt:lpstr>Inter</vt:lpstr>
      <vt:lpstr>Poppins</vt:lpstr>
      <vt:lpstr>Segoe MDL2 Assets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pajju gouda</dc:creator>
  <cp:lastModifiedBy>pajju gouda</cp:lastModifiedBy>
  <cp:revision>26</cp:revision>
  <dcterms:created xsi:type="dcterms:W3CDTF">2026-05-24T14:55:49Z</dcterms:created>
  <dcterms:modified xsi:type="dcterms:W3CDTF">2026-06-02T14:23:37Z</dcterms:modified>
</cp:coreProperties>
</file>